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1"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259" autoAdjust="0"/>
  </p:normalViewPr>
  <p:slideViewPr>
    <p:cSldViewPr snapToGrid="0">
      <p:cViewPr varScale="1">
        <p:scale>
          <a:sx n="68" d="100"/>
          <a:sy n="68" d="100"/>
        </p:scale>
        <p:origin x="73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9203D05-0B15-4920-80C0-1426396E1522}" type="doc">
      <dgm:prSet loTypeId="urn:microsoft.com/office/officeart/2005/8/layout/hierarchy4" loCatId="list" qsTypeId="urn:microsoft.com/office/officeart/2005/8/quickstyle/simple1" qsCatId="simple" csTypeId="urn:microsoft.com/office/officeart/2005/8/colors/colorful1" csCatId="colorful" phldr="1"/>
      <dgm:spPr/>
      <dgm:t>
        <a:bodyPr/>
        <a:lstStyle/>
        <a:p>
          <a:endParaRPr lang="en-US"/>
        </a:p>
      </dgm:t>
    </dgm:pt>
    <dgm:pt modelId="{A56E0427-373B-49B8-8B42-DB85E38371E3}">
      <dgm:prSet phldrT="[Text]"/>
      <dgm:spPr/>
      <dgm:t>
        <a:bodyPr/>
        <a:lstStyle/>
        <a:p>
          <a:r>
            <a:rPr lang="en-IN" smtClean="0"/>
            <a:t>Phase out Diesel vehicles to improve efficiency</a:t>
          </a:r>
          <a:endParaRPr lang="en-US"/>
        </a:p>
      </dgm:t>
    </dgm:pt>
    <dgm:pt modelId="{D4C26EAC-3BEC-41C2-A8F0-73E8F2F1203A}" type="parTrans" cxnId="{94034C36-3198-4E93-9F67-BCE866784DA4}">
      <dgm:prSet/>
      <dgm:spPr/>
      <dgm:t>
        <a:bodyPr/>
        <a:lstStyle/>
        <a:p>
          <a:endParaRPr lang="en-US"/>
        </a:p>
      </dgm:t>
    </dgm:pt>
    <dgm:pt modelId="{21425EFD-D214-4BA1-9E4D-324249FA0494}" type="sibTrans" cxnId="{94034C36-3198-4E93-9F67-BCE866784DA4}">
      <dgm:prSet/>
      <dgm:spPr/>
      <dgm:t>
        <a:bodyPr/>
        <a:lstStyle/>
        <a:p>
          <a:endParaRPr lang="en-US"/>
        </a:p>
      </dgm:t>
    </dgm:pt>
    <dgm:pt modelId="{BEFC6492-E6F7-4BE2-A524-8995D20407A4}">
      <dgm:prSet/>
      <dgm:spPr/>
      <dgm:t>
        <a:bodyPr/>
        <a:lstStyle/>
        <a:p>
          <a:r>
            <a:rPr lang="en-IN" smtClean="0"/>
            <a:t>Strengthen premium model marketing for higher revenue</a:t>
          </a:r>
          <a:endParaRPr lang="en-IN"/>
        </a:p>
      </dgm:t>
    </dgm:pt>
    <dgm:pt modelId="{685B7C44-734D-4ED0-92B0-B14BF0359D50}" type="parTrans" cxnId="{AEB58322-8D23-45C0-8600-A6214C956B8B}">
      <dgm:prSet/>
      <dgm:spPr/>
      <dgm:t>
        <a:bodyPr/>
        <a:lstStyle/>
        <a:p>
          <a:endParaRPr lang="en-US"/>
        </a:p>
      </dgm:t>
    </dgm:pt>
    <dgm:pt modelId="{CF9852E9-370F-4C72-AC55-2B4D576532F9}" type="sibTrans" cxnId="{AEB58322-8D23-45C0-8600-A6214C956B8B}">
      <dgm:prSet/>
      <dgm:spPr/>
      <dgm:t>
        <a:bodyPr/>
        <a:lstStyle/>
        <a:p>
          <a:endParaRPr lang="en-US"/>
        </a:p>
      </dgm:t>
    </dgm:pt>
    <dgm:pt modelId="{32021D48-4EFE-4A77-BC33-7132BD9F564B}">
      <dgm:prSet/>
      <dgm:spPr/>
      <dgm:t>
        <a:bodyPr/>
        <a:lstStyle/>
        <a:p>
          <a:r>
            <a:rPr lang="en-IN" smtClean="0"/>
            <a:t>Enhance sales rep training to reduce volatility</a:t>
          </a:r>
          <a:endParaRPr lang="en-IN"/>
        </a:p>
      </dgm:t>
    </dgm:pt>
    <dgm:pt modelId="{602574A7-EDDD-45D2-B58F-957432EE41EA}" type="parTrans" cxnId="{F2F75238-2E68-4153-BE49-667BAD99EF90}">
      <dgm:prSet/>
      <dgm:spPr/>
      <dgm:t>
        <a:bodyPr/>
        <a:lstStyle/>
        <a:p>
          <a:endParaRPr lang="en-US"/>
        </a:p>
      </dgm:t>
    </dgm:pt>
    <dgm:pt modelId="{0BA59DE2-4D07-465D-9370-965BC8C91B2B}" type="sibTrans" cxnId="{F2F75238-2E68-4153-BE49-667BAD99EF90}">
      <dgm:prSet/>
      <dgm:spPr/>
      <dgm:t>
        <a:bodyPr/>
        <a:lstStyle/>
        <a:p>
          <a:endParaRPr lang="en-US"/>
        </a:p>
      </dgm:t>
    </dgm:pt>
    <dgm:pt modelId="{D99B9BE3-1AD4-4668-8B79-13F68418E87A}">
      <dgm:prSet/>
      <dgm:spPr/>
      <dgm:t>
        <a:bodyPr/>
        <a:lstStyle/>
        <a:p>
          <a:r>
            <a:rPr lang="en-IN" smtClean="0"/>
            <a:t>Improve emission tracking &amp; align with 2030 goals</a:t>
          </a:r>
          <a:endParaRPr lang="en-IN"/>
        </a:p>
      </dgm:t>
    </dgm:pt>
    <dgm:pt modelId="{9F69D3A9-0978-4C26-BD83-97EA66A30FC7}" type="parTrans" cxnId="{D889ACCE-CE8E-4583-AAB1-FD72E3839794}">
      <dgm:prSet/>
      <dgm:spPr/>
      <dgm:t>
        <a:bodyPr/>
        <a:lstStyle/>
        <a:p>
          <a:endParaRPr lang="en-US"/>
        </a:p>
      </dgm:t>
    </dgm:pt>
    <dgm:pt modelId="{29EA5506-00C4-4396-9AEB-57914D33FBB2}" type="sibTrans" cxnId="{D889ACCE-CE8E-4583-AAB1-FD72E3839794}">
      <dgm:prSet/>
      <dgm:spPr/>
      <dgm:t>
        <a:bodyPr/>
        <a:lstStyle/>
        <a:p>
          <a:endParaRPr lang="en-US"/>
        </a:p>
      </dgm:t>
    </dgm:pt>
    <dgm:pt modelId="{95D0C73D-E5CA-4D8B-BD17-69B2DB798E49}" type="pres">
      <dgm:prSet presAssocID="{09203D05-0B15-4920-80C0-1426396E1522}" presName="Name0" presStyleCnt="0">
        <dgm:presLayoutVars>
          <dgm:chPref val="1"/>
          <dgm:dir/>
          <dgm:animOne val="branch"/>
          <dgm:animLvl val="lvl"/>
          <dgm:resizeHandles/>
        </dgm:presLayoutVars>
      </dgm:prSet>
      <dgm:spPr/>
    </dgm:pt>
    <dgm:pt modelId="{1323506B-8A26-4A66-B9AB-F7E35AE3FE21}" type="pres">
      <dgm:prSet presAssocID="{A56E0427-373B-49B8-8B42-DB85E38371E3}" presName="vertOne" presStyleCnt="0"/>
      <dgm:spPr/>
    </dgm:pt>
    <dgm:pt modelId="{5A529575-EDC3-4872-9627-E72A117CE7C3}" type="pres">
      <dgm:prSet presAssocID="{A56E0427-373B-49B8-8B42-DB85E38371E3}" presName="txOne" presStyleLbl="node0" presStyleIdx="0" presStyleCnt="4">
        <dgm:presLayoutVars>
          <dgm:chPref val="3"/>
        </dgm:presLayoutVars>
      </dgm:prSet>
      <dgm:spPr/>
    </dgm:pt>
    <dgm:pt modelId="{56700369-F763-4067-8501-1FCF9FD9AB02}" type="pres">
      <dgm:prSet presAssocID="{A56E0427-373B-49B8-8B42-DB85E38371E3}" presName="horzOne" presStyleCnt="0"/>
      <dgm:spPr/>
    </dgm:pt>
    <dgm:pt modelId="{78E300C6-159A-43CE-AA8A-A4864D5DA54B}" type="pres">
      <dgm:prSet presAssocID="{21425EFD-D214-4BA1-9E4D-324249FA0494}" presName="sibSpaceOne" presStyleCnt="0"/>
      <dgm:spPr/>
    </dgm:pt>
    <dgm:pt modelId="{D9DF4AB4-D827-439D-9497-9A365382DC38}" type="pres">
      <dgm:prSet presAssocID="{BEFC6492-E6F7-4BE2-A524-8995D20407A4}" presName="vertOne" presStyleCnt="0"/>
      <dgm:spPr/>
    </dgm:pt>
    <dgm:pt modelId="{70B03DE2-0B1B-4D42-B3BF-A0E54D2AE1DC}" type="pres">
      <dgm:prSet presAssocID="{BEFC6492-E6F7-4BE2-A524-8995D20407A4}" presName="txOne" presStyleLbl="node0" presStyleIdx="1" presStyleCnt="4">
        <dgm:presLayoutVars>
          <dgm:chPref val="3"/>
        </dgm:presLayoutVars>
      </dgm:prSet>
      <dgm:spPr/>
    </dgm:pt>
    <dgm:pt modelId="{705D2BCE-F21C-4BCC-A5D0-1E0F6701446F}" type="pres">
      <dgm:prSet presAssocID="{BEFC6492-E6F7-4BE2-A524-8995D20407A4}" presName="horzOne" presStyleCnt="0"/>
      <dgm:spPr/>
    </dgm:pt>
    <dgm:pt modelId="{0B9EAEC4-80A6-477D-9EE9-BAD824E32754}" type="pres">
      <dgm:prSet presAssocID="{CF9852E9-370F-4C72-AC55-2B4D576532F9}" presName="sibSpaceOne" presStyleCnt="0"/>
      <dgm:spPr/>
    </dgm:pt>
    <dgm:pt modelId="{5475A2E7-CBCC-472A-9396-37353F21692F}" type="pres">
      <dgm:prSet presAssocID="{32021D48-4EFE-4A77-BC33-7132BD9F564B}" presName="vertOne" presStyleCnt="0"/>
      <dgm:spPr/>
    </dgm:pt>
    <dgm:pt modelId="{A13D35DC-2986-4EC4-9635-6797F5E39B38}" type="pres">
      <dgm:prSet presAssocID="{32021D48-4EFE-4A77-BC33-7132BD9F564B}" presName="txOne" presStyleLbl="node0" presStyleIdx="2" presStyleCnt="4">
        <dgm:presLayoutVars>
          <dgm:chPref val="3"/>
        </dgm:presLayoutVars>
      </dgm:prSet>
      <dgm:spPr/>
    </dgm:pt>
    <dgm:pt modelId="{DBF8A7D1-4515-437B-9B8B-211915DE8682}" type="pres">
      <dgm:prSet presAssocID="{32021D48-4EFE-4A77-BC33-7132BD9F564B}" presName="horzOne" presStyleCnt="0"/>
      <dgm:spPr/>
    </dgm:pt>
    <dgm:pt modelId="{9314F6CD-7029-44A4-9467-4F573430C905}" type="pres">
      <dgm:prSet presAssocID="{0BA59DE2-4D07-465D-9370-965BC8C91B2B}" presName="sibSpaceOne" presStyleCnt="0"/>
      <dgm:spPr/>
    </dgm:pt>
    <dgm:pt modelId="{87A61A3F-44C4-474A-80DE-677BF8E6C8D8}" type="pres">
      <dgm:prSet presAssocID="{D99B9BE3-1AD4-4668-8B79-13F68418E87A}" presName="vertOne" presStyleCnt="0"/>
      <dgm:spPr/>
    </dgm:pt>
    <dgm:pt modelId="{A945EE9F-81BB-406A-AA5E-AA12ADD57C30}" type="pres">
      <dgm:prSet presAssocID="{D99B9BE3-1AD4-4668-8B79-13F68418E87A}" presName="txOne" presStyleLbl="node0" presStyleIdx="3" presStyleCnt="4">
        <dgm:presLayoutVars>
          <dgm:chPref val="3"/>
        </dgm:presLayoutVars>
      </dgm:prSet>
      <dgm:spPr/>
    </dgm:pt>
    <dgm:pt modelId="{3107E319-B5DB-4011-B01C-1FAE734136DE}" type="pres">
      <dgm:prSet presAssocID="{D99B9BE3-1AD4-4668-8B79-13F68418E87A}" presName="horzOne" presStyleCnt="0"/>
      <dgm:spPr/>
    </dgm:pt>
  </dgm:ptLst>
  <dgm:cxnLst>
    <dgm:cxn modelId="{94034C36-3198-4E93-9F67-BCE866784DA4}" srcId="{09203D05-0B15-4920-80C0-1426396E1522}" destId="{A56E0427-373B-49B8-8B42-DB85E38371E3}" srcOrd="0" destOrd="0" parTransId="{D4C26EAC-3BEC-41C2-A8F0-73E8F2F1203A}" sibTransId="{21425EFD-D214-4BA1-9E4D-324249FA0494}"/>
    <dgm:cxn modelId="{D889ACCE-CE8E-4583-AAB1-FD72E3839794}" srcId="{09203D05-0B15-4920-80C0-1426396E1522}" destId="{D99B9BE3-1AD4-4668-8B79-13F68418E87A}" srcOrd="3" destOrd="0" parTransId="{9F69D3A9-0978-4C26-BD83-97EA66A30FC7}" sibTransId="{29EA5506-00C4-4396-9AEB-57914D33FBB2}"/>
    <dgm:cxn modelId="{C030482F-CC48-45B9-B4FA-3C9A455E3C2A}" type="presOf" srcId="{BEFC6492-E6F7-4BE2-A524-8995D20407A4}" destId="{70B03DE2-0B1B-4D42-B3BF-A0E54D2AE1DC}" srcOrd="0" destOrd="0" presId="urn:microsoft.com/office/officeart/2005/8/layout/hierarchy4"/>
    <dgm:cxn modelId="{A211D1D3-1521-4FE0-BDF8-60DB3C94E526}" type="presOf" srcId="{A56E0427-373B-49B8-8B42-DB85E38371E3}" destId="{5A529575-EDC3-4872-9627-E72A117CE7C3}" srcOrd="0" destOrd="0" presId="urn:microsoft.com/office/officeart/2005/8/layout/hierarchy4"/>
    <dgm:cxn modelId="{19E63EA6-D290-4B40-BE1B-CF442AF3ED6B}" type="presOf" srcId="{09203D05-0B15-4920-80C0-1426396E1522}" destId="{95D0C73D-E5CA-4D8B-BD17-69B2DB798E49}" srcOrd="0" destOrd="0" presId="urn:microsoft.com/office/officeart/2005/8/layout/hierarchy4"/>
    <dgm:cxn modelId="{AEB58322-8D23-45C0-8600-A6214C956B8B}" srcId="{09203D05-0B15-4920-80C0-1426396E1522}" destId="{BEFC6492-E6F7-4BE2-A524-8995D20407A4}" srcOrd="1" destOrd="0" parTransId="{685B7C44-734D-4ED0-92B0-B14BF0359D50}" sibTransId="{CF9852E9-370F-4C72-AC55-2B4D576532F9}"/>
    <dgm:cxn modelId="{3A968CDA-EF14-422B-BB9C-4706FE241A30}" type="presOf" srcId="{32021D48-4EFE-4A77-BC33-7132BD9F564B}" destId="{A13D35DC-2986-4EC4-9635-6797F5E39B38}" srcOrd="0" destOrd="0" presId="urn:microsoft.com/office/officeart/2005/8/layout/hierarchy4"/>
    <dgm:cxn modelId="{07BC7D73-7D7C-4A54-809F-9D4426022447}" type="presOf" srcId="{D99B9BE3-1AD4-4668-8B79-13F68418E87A}" destId="{A945EE9F-81BB-406A-AA5E-AA12ADD57C30}" srcOrd="0" destOrd="0" presId="urn:microsoft.com/office/officeart/2005/8/layout/hierarchy4"/>
    <dgm:cxn modelId="{F2F75238-2E68-4153-BE49-667BAD99EF90}" srcId="{09203D05-0B15-4920-80C0-1426396E1522}" destId="{32021D48-4EFE-4A77-BC33-7132BD9F564B}" srcOrd="2" destOrd="0" parTransId="{602574A7-EDDD-45D2-B58F-957432EE41EA}" sibTransId="{0BA59DE2-4D07-465D-9370-965BC8C91B2B}"/>
    <dgm:cxn modelId="{AD16C7A2-AEC6-4C8C-984E-65967A9CA4BE}" type="presParOf" srcId="{95D0C73D-E5CA-4D8B-BD17-69B2DB798E49}" destId="{1323506B-8A26-4A66-B9AB-F7E35AE3FE21}" srcOrd="0" destOrd="0" presId="urn:microsoft.com/office/officeart/2005/8/layout/hierarchy4"/>
    <dgm:cxn modelId="{A5F206AE-B290-4C99-9438-0AA8C2212F32}" type="presParOf" srcId="{1323506B-8A26-4A66-B9AB-F7E35AE3FE21}" destId="{5A529575-EDC3-4872-9627-E72A117CE7C3}" srcOrd="0" destOrd="0" presId="urn:microsoft.com/office/officeart/2005/8/layout/hierarchy4"/>
    <dgm:cxn modelId="{26DB358C-AE09-4FF4-B3DF-974EA4F360CA}" type="presParOf" srcId="{1323506B-8A26-4A66-B9AB-F7E35AE3FE21}" destId="{56700369-F763-4067-8501-1FCF9FD9AB02}" srcOrd="1" destOrd="0" presId="urn:microsoft.com/office/officeart/2005/8/layout/hierarchy4"/>
    <dgm:cxn modelId="{D7FE1E93-C3F9-4026-A931-64A05E99AF8C}" type="presParOf" srcId="{95D0C73D-E5CA-4D8B-BD17-69B2DB798E49}" destId="{78E300C6-159A-43CE-AA8A-A4864D5DA54B}" srcOrd="1" destOrd="0" presId="urn:microsoft.com/office/officeart/2005/8/layout/hierarchy4"/>
    <dgm:cxn modelId="{076CDE92-D46F-4F19-94C9-CA4C51303372}" type="presParOf" srcId="{95D0C73D-E5CA-4D8B-BD17-69B2DB798E49}" destId="{D9DF4AB4-D827-439D-9497-9A365382DC38}" srcOrd="2" destOrd="0" presId="urn:microsoft.com/office/officeart/2005/8/layout/hierarchy4"/>
    <dgm:cxn modelId="{BDAA1AB0-94D4-4494-8BC7-B35FD312142E}" type="presParOf" srcId="{D9DF4AB4-D827-439D-9497-9A365382DC38}" destId="{70B03DE2-0B1B-4D42-B3BF-A0E54D2AE1DC}" srcOrd="0" destOrd="0" presId="urn:microsoft.com/office/officeart/2005/8/layout/hierarchy4"/>
    <dgm:cxn modelId="{59AAA2DD-A144-4E17-AA25-74FBFB6E94D6}" type="presParOf" srcId="{D9DF4AB4-D827-439D-9497-9A365382DC38}" destId="{705D2BCE-F21C-4BCC-A5D0-1E0F6701446F}" srcOrd="1" destOrd="0" presId="urn:microsoft.com/office/officeart/2005/8/layout/hierarchy4"/>
    <dgm:cxn modelId="{C33ABDB5-02A3-4D51-8E0D-DD152317DCF5}" type="presParOf" srcId="{95D0C73D-E5CA-4D8B-BD17-69B2DB798E49}" destId="{0B9EAEC4-80A6-477D-9EE9-BAD824E32754}" srcOrd="3" destOrd="0" presId="urn:microsoft.com/office/officeart/2005/8/layout/hierarchy4"/>
    <dgm:cxn modelId="{AD75FF4E-49DE-466E-8039-5CA42E2BC88F}" type="presParOf" srcId="{95D0C73D-E5CA-4D8B-BD17-69B2DB798E49}" destId="{5475A2E7-CBCC-472A-9396-37353F21692F}" srcOrd="4" destOrd="0" presId="urn:microsoft.com/office/officeart/2005/8/layout/hierarchy4"/>
    <dgm:cxn modelId="{858C3D84-0904-4FF5-8F24-5EBB8E88C56B}" type="presParOf" srcId="{5475A2E7-CBCC-472A-9396-37353F21692F}" destId="{A13D35DC-2986-4EC4-9635-6797F5E39B38}" srcOrd="0" destOrd="0" presId="urn:microsoft.com/office/officeart/2005/8/layout/hierarchy4"/>
    <dgm:cxn modelId="{66442C62-D120-4055-84CF-3A30C174F295}" type="presParOf" srcId="{5475A2E7-CBCC-472A-9396-37353F21692F}" destId="{DBF8A7D1-4515-437B-9B8B-211915DE8682}" srcOrd="1" destOrd="0" presId="urn:microsoft.com/office/officeart/2005/8/layout/hierarchy4"/>
    <dgm:cxn modelId="{F3DCF289-E90F-400C-B8F2-D5A45979ADC3}" type="presParOf" srcId="{95D0C73D-E5CA-4D8B-BD17-69B2DB798E49}" destId="{9314F6CD-7029-44A4-9467-4F573430C905}" srcOrd="5" destOrd="0" presId="urn:microsoft.com/office/officeart/2005/8/layout/hierarchy4"/>
    <dgm:cxn modelId="{BB4DED04-C07C-410E-9F7B-4F581F19646C}" type="presParOf" srcId="{95D0C73D-E5CA-4D8B-BD17-69B2DB798E49}" destId="{87A61A3F-44C4-474A-80DE-677BF8E6C8D8}" srcOrd="6" destOrd="0" presId="urn:microsoft.com/office/officeart/2005/8/layout/hierarchy4"/>
    <dgm:cxn modelId="{B6A23EDE-96E5-4780-AF75-2AD3E019DE83}" type="presParOf" srcId="{87A61A3F-44C4-474A-80DE-677BF8E6C8D8}" destId="{A945EE9F-81BB-406A-AA5E-AA12ADD57C30}" srcOrd="0" destOrd="0" presId="urn:microsoft.com/office/officeart/2005/8/layout/hierarchy4"/>
    <dgm:cxn modelId="{DA2AF3FE-B5CC-46ED-99DC-134C2F179431}" type="presParOf" srcId="{87A61A3F-44C4-474A-80DE-677BF8E6C8D8}" destId="{3107E319-B5DB-4011-B01C-1FAE734136DE}" srcOrd="1"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529575-EDC3-4872-9627-E72A117CE7C3}">
      <dsp:nvSpPr>
        <dsp:cNvPr id="0" name=""/>
        <dsp:cNvSpPr/>
      </dsp:nvSpPr>
      <dsp:spPr>
        <a:xfrm>
          <a:off x="1412" y="0"/>
          <a:ext cx="1377644" cy="448502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IN" sz="2000" kern="1200" smtClean="0"/>
            <a:t>Phase out Diesel vehicles to improve efficiency</a:t>
          </a:r>
          <a:endParaRPr lang="en-US" sz="2000" kern="1200"/>
        </a:p>
      </dsp:txBody>
      <dsp:txXfrm>
        <a:off x="41762" y="40350"/>
        <a:ext cx="1296944" cy="4404329"/>
      </dsp:txXfrm>
    </dsp:sp>
    <dsp:sp modelId="{70B03DE2-0B1B-4D42-B3BF-A0E54D2AE1DC}">
      <dsp:nvSpPr>
        <dsp:cNvPr id="0" name=""/>
        <dsp:cNvSpPr/>
      </dsp:nvSpPr>
      <dsp:spPr>
        <a:xfrm>
          <a:off x="1610501" y="0"/>
          <a:ext cx="1377644" cy="448502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IN" sz="2000" kern="1200" smtClean="0"/>
            <a:t>Strengthen premium model marketing for higher revenue</a:t>
          </a:r>
          <a:endParaRPr lang="en-IN" sz="2000" kern="1200"/>
        </a:p>
      </dsp:txBody>
      <dsp:txXfrm>
        <a:off x="1650851" y="40350"/>
        <a:ext cx="1296944" cy="4404329"/>
      </dsp:txXfrm>
    </dsp:sp>
    <dsp:sp modelId="{A13D35DC-2986-4EC4-9635-6797F5E39B38}">
      <dsp:nvSpPr>
        <dsp:cNvPr id="0" name=""/>
        <dsp:cNvSpPr/>
      </dsp:nvSpPr>
      <dsp:spPr>
        <a:xfrm>
          <a:off x="3219590" y="0"/>
          <a:ext cx="1377644" cy="448502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IN" sz="2000" kern="1200" smtClean="0"/>
            <a:t>Enhance sales rep training to reduce volatility</a:t>
          </a:r>
          <a:endParaRPr lang="en-IN" sz="2000" kern="1200"/>
        </a:p>
      </dsp:txBody>
      <dsp:txXfrm>
        <a:off x="3259940" y="40350"/>
        <a:ext cx="1296944" cy="4404329"/>
      </dsp:txXfrm>
    </dsp:sp>
    <dsp:sp modelId="{A945EE9F-81BB-406A-AA5E-AA12ADD57C30}">
      <dsp:nvSpPr>
        <dsp:cNvPr id="0" name=""/>
        <dsp:cNvSpPr/>
      </dsp:nvSpPr>
      <dsp:spPr>
        <a:xfrm>
          <a:off x="4828679" y="0"/>
          <a:ext cx="1377644" cy="448502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IN" sz="2000" kern="1200" smtClean="0"/>
            <a:t>Improve emission tracking &amp; align with 2030 goals</a:t>
          </a:r>
          <a:endParaRPr lang="en-IN" sz="2000" kern="1200"/>
        </a:p>
      </dsp:txBody>
      <dsp:txXfrm>
        <a:off x="4869029" y="40350"/>
        <a:ext cx="1296944" cy="4404329"/>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49CBDE-9B32-4C18-8B74-602DDBB3876F}" type="datetimeFigureOut">
              <a:rPr lang="en-IN" smtClean="0"/>
              <a:t>02-01-2026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0D2BD6-E9FF-4178-8575-83D64A0DA9EF}" type="slidenum">
              <a:rPr lang="en-IN" smtClean="0"/>
              <a:t>‹#›</a:t>
            </a:fld>
            <a:endParaRPr lang="en-IN"/>
          </a:p>
        </p:txBody>
      </p:sp>
    </p:spTree>
    <p:extLst>
      <p:ext uri="{BB962C8B-B14F-4D97-AF65-F5344CB8AC3E}">
        <p14:creationId xmlns:p14="http://schemas.microsoft.com/office/powerpoint/2010/main" val="11821039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smtClean="0">
                <a:solidFill>
                  <a:schemeClr val="tx1"/>
                </a:solidFill>
                <a:effectLst/>
                <a:latin typeface="+mn-lt"/>
                <a:ea typeface="+mn-ea"/>
                <a:cs typeface="+mn-cs"/>
              </a:rPr>
              <a:t>The presentation is the overview of commercial development and sustainability at Eco Drive motors with interactive Power BI dashboards that focus on four selected KPIs that will align the business objectives and the eco-social agenda. </a:t>
            </a:r>
          </a:p>
          <a:p>
            <a:endParaRPr lang="en-IN" dirty="0"/>
          </a:p>
        </p:txBody>
      </p:sp>
      <p:sp>
        <p:nvSpPr>
          <p:cNvPr id="4" name="Slide Number Placeholder 3"/>
          <p:cNvSpPr>
            <a:spLocks noGrp="1"/>
          </p:cNvSpPr>
          <p:nvPr>
            <p:ph type="sldNum" sz="quarter" idx="10"/>
          </p:nvPr>
        </p:nvSpPr>
        <p:spPr/>
        <p:txBody>
          <a:bodyPr/>
          <a:lstStyle/>
          <a:p>
            <a:fld id="{FF0D2BD6-E9FF-4178-8575-83D64A0DA9EF}" type="slidenum">
              <a:rPr lang="en-IN" smtClean="0"/>
              <a:t>2</a:t>
            </a:fld>
            <a:endParaRPr lang="en-IN"/>
          </a:p>
        </p:txBody>
      </p:sp>
    </p:spTree>
    <p:extLst>
      <p:ext uri="{BB962C8B-B14F-4D97-AF65-F5344CB8AC3E}">
        <p14:creationId xmlns:p14="http://schemas.microsoft.com/office/powerpoint/2010/main" val="5226166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smtClean="0">
                <a:solidFill>
                  <a:schemeClr val="tx1"/>
                </a:solidFill>
                <a:effectLst/>
                <a:latin typeface="+mn-lt"/>
                <a:ea typeface="+mn-ea"/>
                <a:cs typeface="+mn-cs"/>
              </a:rPr>
              <a:t>The KPI system is designed such that it provides a comprehensive insight into business wellbeing including profitability, market penetration, customer retention, and environmental footprint in a single analytical framework. </a:t>
            </a:r>
          </a:p>
          <a:p>
            <a:endParaRPr lang="en-IN" dirty="0"/>
          </a:p>
        </p:txBody>
      </p:sp>
      <p:sp>
        <p:nvSpPr>
          <p:cNvPr id="4" name="Slide Number Placeholder 3"/>
          <p:cNvSpPr>
            <a:spLocks noGrp="1"/>
          </p:cNvSpPr>
          <p:nvPr>
            <p:ph type="sldNum" sz="quarter" idx="10"/>
          </p:nvPr>
        </p:nvSpPr>
        <p:spPr/>
        <p:txBody>
          <a:bodyPr/>
          <a:lstStyle/>
          <a:p>
            <a:fld id="{FF0D2BD6-E9FF-4178-8575-83D64A0DA9EF}" type="slidenum">
              <a:rPr lang="en-IN" smtClean="0"/>
              <a:t>3</a:t>
            </a:fld>
            <a:endParaRPr lang="en-IN"/>
          </a:p>
        </p:txBody>
      </p:sp>
    </p:spTree>
    <p:extLst>
      <p:ext uri="{BB962C8B-B14F-4D97-AF65-F5344CB8AC3E}">
        <p14:creationId xmlns:p14="http://schemas.microsoft.com/office/powerpoint/2010/main" val="35461468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smtClean="0">
                <a:solidFill>
                  <a:schemeClr val="tx1"/>
                </a:solidFill>
                <a:effectLst/>
                <a:latin typeface="+mn-lt"/>
                <a:ea typeface="+mn-ea"/>
                <a:cs typeface="+mn-cs"/>
              </a:rPr>
              <a:t>Eco Drive Motors has a healthy multi-fuel strategy with a balanced sales mix. Such diversification reduces the risks of dependency and sets the company in a very good position to grow in the electric mobility markets in future. </a:t>
            </a:r>
          </a:p>
          <a:p>
            <a:endParaRPr lang="en-IN" dirty="0"/>
          </a:p>
        </p:txBody>
      </p:sp>
      <p:sp>
        <p:nvSpPr>
          <p:cNvPr id="4" name="Slide Number Placeholder 3"/>
          <p:cNvSpPr>
            <a:spLocks noGrp="1"/>
          </p:cNvSpPr>
          <p:nvPr>
            <p:ph type="sldNum" sz="quarter" idx="10"/>
          </p:nvPr>
        </p:nvSpPr>
        <p:spPr/>
        <p:txBody>
          <a:bodyPr/>
          <a:lstStyle/>
          <a:p>
            <a:fld id="{FF0D2BD6-E9FF-4178-8575-83D64A0DA9EF}" type="slidenum">
              <a:rPr lang="en-IN" smtClean="0"/>
              <a:t>4</a:t>
            </a:fld>
            <a:endParaRPr lang="en-IN"/>
          </a:p>
        </p:txBody>
      </p:sp>
    </p:spTree>
    <p:extLst>
      <p:ext uri="{BB962C8B-B14F-4D97-AF65-F5344CB8AC3E}">
        <p14:creationId xmlns:p14="http://schemas.microsoft.com/office/powerpoint/2010/main" val="17005920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smtClean="0">
                <a:solidFill>
                  <a:schemeClr val="tx1"/>
                </a:solidFill>
                <a:effectLst/>
                <a:latin typeface="+mn-lt"/>
                <a:ea typeface="+mn-ea"/>
                <a:cs typeface="+mn-cs"/>
              </a:rPr>
              <a:t>Sales mix stability over the years is an indication of a predictable demand; therefore, the managers may be assured of production planning. It also facilitates the process of shift to a sustainable vehicle portfolio, which helps to achieve the long-term strategic objectives. </a:t>
            </a:r>
          </a:p>
          <a:p>
            <a:endParaRPr lang="en-IN" dirty="0"/>
          </a:p>
        </p:txBody>
      </p:sp>
      <p:sp>
        <p:nvSpPr>
          <p:cNvPr id="4" name="Slide Number Placeholder 3"/>
          <p:cNvSpPr>
            <a:spLocks noGrp="1"/>
          </p:cNvSpPr>
          <p:nvPr>
            <p:ph type="sldNum" sz="quarter" idx="10"/>
          </p:nvPr>
        </p:nvSpPr>
        <p:spPr/>
        <p:txBody>
          <a:bodyPr/>
          <a:lstStyle/>
          <a:p>
            <a:fld id="{FF0D2BD6-E9FF-4178-8575-83D64A0DA9EF}" type="slidenum">
              <a:rPr lang="en-IN" smtClean="0"/>
              <a:t>5</a:t>
            </a:fld>
            <a:endParaRPr lang="en-IN"/>
          </a:p>
        </p:txBody>
      </p:sp>
    </p:spTree>
    <p:extLst>
      <p:ext uri="{BB962C8B-B14F-4D97-AF65-F5344CB8AC3E}">
        <p14:creationId xmlns:p14="http://schemas.microsoft.com/office/powerpoint/2010/main" val="18569941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smtClean="0">
                <a:solidFill>
                  <a:schemeClr val="tx1"/>
                </a:solidFill>
                <a:effectLst/>
                <a:latin typeface="+mn-lt"/>
                <a:ea typeface="+mn-ea"/>
                <a:cs typeface="+mn-cs"/>
              </a:rPr>
              <a:t>The regional analysis indicates the existing strong points of Eco-Drive Motors and shows the unexploited markets where the specific growth might open wide new areas of revenue and lead to overall development of the company in terms of the long-term strategic success and market leadership.</a:t>
            </a:r>
          </a:p>
          <a:p>
            <a:endParaRPr lang="en-IN" dirty="0"/>
          </a:p>
        </p:txBody>
      </p:sp>
      <p:sp>
        <p:nvSpPr>
          <p:cNvPr id="4" name="Slide Number Placeholder 3"/>
          <p:cNvSpPr>
            <a:spLocks noGrp="1"/>
          </p:cNvSpPr>
          <p:nvPr>
            <p:ph type="sldNum" sz="quarter" idx="10"/>
          </p:nvPr>
        </p:nvSpPr>
        <p:spPr/>
        <p:txBody>
          <a:bodyPr/>
          <a:lstStyle/>
          <a:p>
            <a:fld id="{FF0D2BD6-E9FF-4178-8575-83D64A0DA9EF}" type="slidenum">
              <a:rPr lang="en-IN" smtClean="0"/>
              <a:t>6</a:t>
            </a:fld>
            <a:endParaRPr lang="en-IN"/>
          </a:p>
        </p:txBody>
      </p:sp>
    </p:spTree>
    <p:extLst>
      <p:ext uri="{BB962C8B-B14F-4D97-AF65-F5344CB8AC3E}">
        <p14:creationId xmlns:p14="http://schemas.microsoft.com/office/powerpoint/2010/main" val="4563398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smtClean="0">
                <a:solidFill>
                  <a:schemeClr val="tx1"/>
                </a:solidFill>
                <a:effectLst/>
                <a:latin typeface="+mn-lt"/>
                <a:ea typeface="+mn-ea"/>
                <a:cs typeface="+mn-cs"/>
              </a:rPr>
              <a:t>Understanding of regional differences puts a leadership into the position to ensure investments, a pricing approach and improvement of dealership operations in the laggard markets to expand the market penetration and customer satisfaction to enhance long-term growth and success. </a:t>
            </a:r>
          </a:p>
          <a:p>
            <a:endParaRPr lang="en-IN" dirty="0"/>
          </a:p>
        </p:txBody>
      </p:sp>
      <p:sp>
        <p:nvSpPr>
          <p:cNvPr id="4" name="Slide Number Placeholder 3"/>
          <p:cNvSpPr>
            <a:spLocks noGrp="1"/>
          </p:cNvSpPr>
          <p:nvPr>
            <p:ph type="sldNum" sz="quarter" idx="10"/>
          </p:nvPr>
        </p:nvSpPr>
        <p:spPr/>
        <p:txBody>
          <a:bodyPr/>
          <a:lstStyle/>
          <a:p>
            <a:fld id="{FF0D2BD6-E9FF-4178-8575-83D64A0DA9EF}" type="slidenum">
              <a:rPr lang="en-IN" smtClean="0"/>
              <a:t>7</a:t>
            </a:fld>
            <a:endParaRPr lang="en-IN"/>
          </a:p>
        </p:txBody>
      </p:sp>
    </p:spTree>
    <p:extLst>
      <p:ext uri="{BB962C8B-B14F-4D97-AF65-F5344CB8AC3E}">
        <p14:creationId xmlns:p14="http://schemas.microsoft.com/office/powerpoint/2010/main" val="25228316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smtClean="0">
                <a:solidFill>
                  <a:schemeClr val="tx1"/>
                </a:solidFill>
                <a:effectLst/>
                <a:latin typeface="+mn-lt"/>
                <a:ea typeface="+mn-ea"/>
                <a:cs typeface="+mn-cs"/>
              </a:rPr>
              <a:t>Having a balanced sales force and a wide customer base, Eco-Drive Motors will be resilient, providing the company with stable performance and securing growth even in a fluctuating market hence protecting the long-term profitability of future operations.</a:t>
            </a:r>
          </a:p>
          <a:p>
            <a:endParaRPr lang="en-IN" dirty="0"/>
          </a:p>
        </p:txBody>
      </p:sp>
      <p:sp>
        <p:nvSpPr>
          <p:cNvPr id="4" name="Slide Number Placeholder 3"/>
          <p:cNvSpPr>
            <a:spLocks noGrp="1"/>
          </p:cNvSpPr>
          <p:nvPr>
            <p:ph type="sldNum" sz="quarter" idx="10"/>
          </p:nvPr>
        </p:nvSpPr>
        <p:spPr/>
        <p:txBody>
          <a:bodyPr/>
          <a:lstStyle/>
          <a:p>
            <a:fld id="{FF0D2BD6-E9FF-4178-8575-83D64A0DA9EF}" type="slidenum">
              <a:rPr lang="en-IN" smtClean="0"/>
              <a:t>8</a:t>
            </a:fld>
            <a:endParaRPr lang="en-IN"/>
          </a:p>
        </p:txBody>
      </p:sp>
    </p:spTree>
    <p:extLst>
      <p:ext uri="{BB962C8B-B14F-4D97-AF65-F5344CB8AC3E}">
        <p14:creationId xmlns:p14="http://schemas.microsoft.com/office/powerpoint/2010/main" val="30252172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smtClean="0">
                <a:solidFill>
                  <a:schemeClr val="tx1"/>
                </a:solidFill>
                <a:effectLst/>
                <a:latin typeface="+mn-lt"/>
                <a:ea typeface="+mn-ea"/>
                <a:cs typeface="+mn-cs"/>
              </a:rPr>
              <a:t>Diversified buying patterns among customers indicate that the brand has high trust and customer retention where the range of products purchased caters to all segments and reduces the revenues of any particular model that might result in fluctuations of revenues during changes in the market. </a:t>
            </a:r>
          </a:p>
          <a:p>
            <a:endParaRPr lang="en-IN" dirty="0"/>
          </a:p>
        </p:txBody>
      </p:sp>
      <p:sp>
        <p:nvSpPr>
          <p:cNvPr id="4" name="Slide Number Placeholder 3"/>
          <p:cNvSpPr>
            <a:spLocks noGrp="1"/>
          </p:cNvSpPr>
          <p:nvPr>
            <p:ph type="sldNum" sz="quarter" idx="10"/>
          </p:nvPr>
        </p:nvSpPr>
        <p:spPr/>
        <p:txBody>
          <a:bodyPr/>
          <a:lstStyle/>
          <a:p>
            <a:fld id="{FF0D2BD6-E9FF-4178-8575-83D64A0DA9EF}" type="slidenum">
              <a:rPr lang="en-IN" smtClean="0"/>
              <a:t>9</a:t>
            </a:fld>
            <a:endParaRPr lang="en-IN"/>
          </a:p>
        </p:txBody>
      </p:sp>
    </p:spTree>
    <p:extLst>
      <p:ext uri="{BB962C8B-B14F-4D97-AF65-F5344CB8AC3E}">
        <p14:creationId xmlns:p14="http://schemas.microsoft.com/office/powerpoint/2010/main" val="29358722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smtClean="0">
                <a:solidFill>
                  <a:schemeClr val="tx1"/>
                </a:solidFill>
                <a:effectLst/>
                <a:latin typeface="+mn-lt"/>
                <a:ea typeface="+mn-ea"/>
                <a:cs typeface="+mn-cs"/>
              </a:rPr>
              <a:t>The carbon-footprint dashboard demonstrates the complexity of the task of emission reduction and highlights the fact that electrification does not guarantee the achievement of sustainability benefits by itself. Business and planet need to find ways of making the environmental changes meaningful through integrated strategies.</a:t>
            </a:r>
            <a:endParaRPr lang="en-IN"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F0D2BD6-E9FF-4178-8575-83D64A0DA9EF}" type="slidenum">
              <a:rPr lang="en-IN" smtClean="0"/>
              <a:t>10</a:t>
            </a:fld>
            <a:endParaRPr lang="en-IN"/>
          </a:p>
        </p:txBody>
      </p:sp>
    </p:spTree>
    <p:extLst>
      <p:ext uri="{BB962C8B-B14F-4D97-AF65-F5344CB8AC3E}">
        <p14:creationId xmlns:p14="http://schemas.microsoft.com/office/powerpoint/2010/main" val="2244735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smtClean="0">
                <a:solidFill>
                  <a:schemeClr val="tx1"/>
                </a:solidFill>
                <a:effectLst/>
                <a:latin typeface="+mn-lt"/>
                <a:ea typeface="+mn-ea"/>
                <a:cs typeface="+mn-cs"/>
              </a:rPr>
              <a:t>Statistics show that an immediate necessity exists to refocus product strategy and practice, turn around increasing emissions and fulfil the environmental promises made in the long-term so that the brand image is safe and compliant development of the future is also guaranteed.</a:t>
            </a:r>
          </a:p>
          <a:p>
            <a:endParaRPr lang="en-IN" dirty="0"/>
          </a:p>
        </p:txBody>
      </p:sp>
      <p:sp>
        <p:nvSpPr>
          <p:cNvPr id="4" name="Slide Number Placeholder 3"/>
          <p:cNvSpPr>
            <a:spLocks noGrp="1"/>
          </p:cNvSpPr>
          <p:nvPr>
            <p:ph type="sldNum" sz="quarter" idx="10"/>
          </p:nvPr>
        </p:nvSpPr>
        <p:spPr/>
        <p:txBody>
          <a:bodyPr/>
          <a:lstStyle/>
          <a:p>
            <a:fld id="{FF0D2BD6-E9FF-4178-8575-83D64A0DA9EF}" type="slidenum">
              <a:rPr lang="en-IN" smtClean="0"/>
              <a:t>11</a:t>
            </a:fld>
            <a:endParaRPr lang="en-IN"/>
          </a:p>
        </p:txBody>
      </p:sp>
    </p:spTree>
    <p:extLst>
      <p:ext uri="{BB962C8B-B14F-4D97-AF65-F5344CB8AC3E}">
        <p14:creationId xmlns:p14="http://schemas.microsoft.com/office/powerpoint/2010/main" val="34540507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smtClean="0">
                <a:solidFill>
                  <a:schemeClr val="tx1"/>
                </a:solidFill>
                <a:effectLst/>
                <a:latin typeface="+mn-lt"/>
                <a:ea typeface="+mn-ea"/>
                <a:cs typeface="+mn-cs"/>
              </a:rPr>
              <a:t>These KPIs assist Eco-Drive Motors to strike a balance between commercial performance and environmental sustainability, and recovery toward stakeholder expectations and create a strong brand to make a global impact by balancing profit with sustainability and trust to the society.</a:t>
            </a:r>
          </a:p>
          <a:p>
            <a:endParaRPr lang="en-IN" dirty="0"/>
          </a:p>
        </p:txBody>
      </p:sp>
      <p:sp>
        <p:nvSpPr>
          <p:cNvPr id="4" name="Slide Number Placeholder 3"/>
          <p:cNvSpPr>
            <a:spLocks noGrp="1"/>
          </p:cNvSpPr>
          <p:nvPr>
            <p:ph type="sldNum" sz="quarter" idx="10"/>
          </p:nvPr>
        </p:nvSpPr>
        <p:spPr/>
        <p:txBody>
          <a:bodyPr/>
          <a:lstStyle/>
          <a:p>
            <a:fld id="{FF0D2BD6-E9FF-4178-8575-83D64A0DA9EF}" type="slidenum">
              <a:rPr lang="en-IN" smtClean="0"/>
              <a:t>12</a:t>
            </a:fld>
            <a:endParaRPr lang="en-IN"/>
          </a:p>
        </p:txBody>
      </p:sp>
    </p:spTree>
    <p:extLst>
      <p:ext uri="{BB962C8B-B14F-4D97-AF65-F5344CB8AC3E}">
        <p14:creationId xmlns:p14="http://schemas.microsoft.com/office/powerpoint/2010/main" val="42338520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smtClean="0">
                <a:solidFill>
                  <a:schemeClr val="tx1"/>
                </a:solidFill>
                <a:effectLst/>
                <a:latin typeface="+mn-lt"/>
                <a:ea typeface="+mn-ea"/>
                <a:cs typeface="+mn-cs"/>
              </a:rPr>
              <a:t>Individual sales and market oriented will enhance growth, facilitating easier shifts toward sustainable mobility solutions and enhancing the market leadership of Eco interested Motors, as well as customer loyalty mediation of revenues streams over sustained growth.</a:t>
            </a:r>
          </a:p>
          <a:p>
            <a:endParaRPr lang="en-IN" dirty="0"/>
          </a:p>
        </p:txBody>
      </p:sp>
      <p:sp>
        <p:nvSpPr>
          <p:cNvPr id="4" name="Slide Number Placeholder 3"/>
          <p:cNvSpPr>
            <a:spLocks noGrp="1"/>
          </p:cNvSpPr>
          <p:nvPr>
            <p:ph type="sldNum" sz="quarter" idx="10"/>
          </p:nvPr>
        </p:nvSpPr>
        <p:spPr/>
        <p:txBody>
          <a:bodyPr/>
          <a:lstStyle/>
          <a:p>
            <a:fld id="{FF0D2BD6-E9FF-4178-8575-83D64A0DA9EF}" type="slidenum">
              <a:rPr lang="en-IN" smtClean="0"/>
              <a:t>13</a:t>
            </a:fld>
            <a:endParaRPr lang="en-IN"/>
          </a:p>
        </p:txBody>
      </p:sp>
    </p:spTree>
    <p:extLst>
      <p:ext uri="{BB962C8B-B14F-4D97-AF65-F5344CB8AC3E}">
        <p14:creationId xmlns:p14="http://schemas.microsoft.com/office/powerpoint/2010/main" val="2254353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smtClean="0">
                <a:solidFill>
                  <a:schemeClr val="tx1"/>
                </a:solidFill>
                <a:effectLst/>
                <a:latin typeface="+mn-lt"/>
                <a:ea typeface="+mn-ea"/>
                <a:cs typeface="+mn-cs"/>
              </a:rPr>
              <a:t>Individual sales and market oriented enhances growth, facilitating easier shifts toward sustainable mobility solutions and enhancing the market leadership of Eco interested Motors, as well as customer loyalty mediation of revenues streams over sustained growth.</a:t>
            </a:r>
          </a:p>
          <a:p>
            <a:endParaRPr lang="en-IN" dirty="0"/>
          </a:p>
        </p:txBody>
      </p:sp>
      <p:sp>
        <p:nvSpPr>
          <p:cNvPr id="4" name="Slide Number Placeholder 3"/>
          <p:cNvSpPr>
            <a:spLocks noGrp="1"/>
          </p:cNvSpPr>
          <p:nvPr>
            <p:ph type="sldNum" sz="quarter" idx="10"/>
          </p:nvPr>
        </p:nvSpPr>
        <p:spPr/>
        <p:txBody>
          <a:bodyPr/>
          <a:lstStyle/>
          <a:p>
            <a:fld id="{FF0D2BD6-E9FF-4178-8575-83D64A0DA9EF}" type="slidenum">
              <a:rPr lang="en-IN" smtClean="0"/>
              <a:t>14</a:t>
            </a:fld>
            <a:endParaRPr lang="en-IN"/>
          </a:p>
        </p:txBody>
      </p:sp>
    </p:spTree>
    <p:extLst>
      <p:ext uri="{BB962C8B-B14F-4D97-AF65-F5344CB8AC3E}">
        <p14:creationId xmlns:p14="http://schemas.microsoft.com/office/powerpoint/2010/main" val="12715204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smtClean="0">
                <a:solidFill>
                  <a:schemeClr val="tx1"/>
                </a:solidFill>
                <a:effectLst/>
                <a:latin typeface="+mn-lt"/>
                <a:ea typeface="+mn-ea"/>
                <a:cs typeface="+mn-cs"/>
              </a:rPr>
              <a:t>The engagement of customers and investments in sustainability should move in tandem, retaining, reducing emissions, and developing long-term competitive edge that will place Eco-Drive Motors ahead in an evolving market to succeed in the future. </a:t>
            </a:r>
          </a:p>
          <a:p>
            <a:endParaRPr lang="en-IN" dirty="0"/>
          </a:p>
        </p:txBody>
      </p:sp>
      <p:sp>
        <p:nvSpPr>
          <p:cNvPr id="4" name="Slide Number Placeholder 3"/>
          <p:cNvSpPr>
            <a:spLocks noGrp="1"/>
          </p:cNvSpPr>
          <p:nvPr>
            <p:ph type="sldNum" sz="quarter" idx="10"/>
          </p:nvPr>
        </p:nvSpPr>
        <p:spPr/>
        <p:txBody>
          <a:bodyPr/>
          <a:lstStyle/>
          <a:p>
            <a:fld id="{FF0D2BD6-E9FF-4178-8575-83D64A0DA9EF}" type="slidenum">
              <a:rPr lang="en-IN" smtClean="0"/>
              <a:t>15</a:t>
            </a:fld>
            <a:endParaRPr lang="en-IN"/>
          </a:p>
        </p:txBody>
      </p:sp>
    </p:spTree>
    <p:extLst>
      <p:ext uri="{BB962C8B-B14F-4D97-AF65-F5344CB8AC3E}">
        <p14:creationId xmlns:p14="http://schemas.microsoft.com/office/powerpoint/2010/main" val="31438275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smtClean="0">
                <a:solidFill>
                  <a:schemeClr val="tx1"/>
                </a:solidFill>
                <a:effectLst/>
                <a:latin typeface="+mn-lt"/>
                <a:ea typeface="+mn-ea"/>
                <a:cs typeface="+mn-cs"/>
              </a:rPr>
              <a:t>This analysis equips leadership with clear, evidence-based insights to drive profitable growth while advancing Eco Drive Motors’ sustainability agenda. </a:t>
            </a:r>
          </a:p>
          <a:p>
            <a:endParaRPr lang="en-IN" dirty="0"/>
          </a:p>
        </p:txBody>
      </p:sp>
      <p:sp>
        <p:nvSpPr>
          <p:cNvPr id="4" name="Slide Number Placeholder 3"/>
          <p:cNvSpPr>
            <a:spLocks noGrp="1"/>
          </p:cNvSpPr>
          <p:nvPr>
            <p:ph type="sldNum" sz="quarter" idx="10"/>
          </p:nvPr>
        </p:nvSpPr>
        <p:spPr/>
        <p:txBody>
          <a:bodyPr/>
          <a:lstStyle/>
          <a:p>
            <a:fld id="{FF0D2BD6-E9FF-4178-8575-83D64A0DA9EF}" type="slidenum">
              <a:rPr lang="en-IN" smtClean="0"/>
              <a:t>16</a:t>
            </a:fld>
            <a:endParaRPr lang="en-IN"/>
          </a:p>
        </p:txBody>
      </p:sp>
    </p:spTree>
    <p:extLst>
      <p:ext uri="{BB962C8B-B14F-4D97-AF65-F5344CB8AC3E}">
        <p14:creationId xmlns:p14="http://schemas.microsoft.com/office/powerpoint/2010/main" val="27054644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1E700B27-DE4C-4B9E-BB11-B9027034A00F}" type="datetimeFigureOut">
              <a:rPr lang="en-US" smtClean="0"/>
              <a:pPr/>
              <a:t>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555990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5C51FCE-E4BB-4680-8E50-3C0E348D2609}" type="datetimeFigureOut">
              <a:rPr lang="en-US" smtClean="0"/>
              <a:t>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90741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AAA073D-A903-47F8-8D16-77642FB0DF1F}" type="datetimeFigureOut">
              <a:rPr lang="en-US" smtClean="0"/>
              <a:t>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244737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AB91FA40-626B-4CA1-85D0-7A9016E395BA}" type="datetimeFigureOut">
              <a:rPr lang="en-US" smtClean="0"/>
              <a:t>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772236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C3F425EA-B9DC-48A7-991E-9A82573B1B21}" type="datetimeFigureOut">
              <a:rPr lang="en-US" smtClean="0"/>
              <a:t>1/2/2026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812894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66CB97F8-6CEB-469B-AFCC-889F2A2B1D5A}" type="datetimeFigureOut">
              <a:rPr lang="en-US" smtClean="0"/>
              <a:t>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654102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A9179F-009E-4FA5-B091-7EBB82A185BD}" type="datetimeFigureOut">
              <a:rPr lang="en-US" smtClean="0"/>
              <a:t>1/2/2026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827890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E665CEB-0076-4E37-B880-BCEA9784DE0A}" type="datetimeFigureOut">
              <a:rPr lang="en-US" smtClean="0"/>
              <a:t>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138799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6149E5E-3896-4118-99A7-7B85668F1C5E}" type="datetimeFigureOut">
              <a:rPr lang="en-US" smtClean="0"/>
              <a:t>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970811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0DBE609-F3F2-45E6-BD6A-E03A8C86C1AE}" type="datetimeFigureOut">
              <a:rPr lang="en-US" smtClean="0"/>
              <a:t>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491709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A24AD68-089C-4467-A8F3-EA2BBCA6B44E}" type="datetimeFigureOut">
              <a:rPr lang="en-US" smtClean="0"/>
              <a:t>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957185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0D914D-B099-4142-A885-11F276715148}" type="datetimeFigureOut">
              <a:rPr lang="en-US" smtClean="0"/>
              <a:t>1/2/2026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17638757"/>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iea.org/reports/global-ev-outlook-2023" TargetMode="External"/><Relationship Id="rId7" Type="http://schemas.openxmlformats.org/officeDocument/2006/relationships/hyperlink" Target="https://publica.fraunhofer.de/bitstreams/06120dcc-cb4f-42e7-9272-ce94daf04810/download" TargetMode="External"/><Relationship Id="rId2" Type="http://schemas.openxmlformats.org/officeDocument/2006/relationships/hyperlink" Target="https://link.springer.com/chapter/10.1007/979-8-8688-1183-8_6" TargetMode="External"/><Relationship Id="rId1" Type="http://schemas.openxmlformats.org/officeDocument/2006/relationships/slideLayout" Target="../slideLayouts/slideLayout2.xml"/><Relationship Id="rId6" Type="http://schemas.openxmlformats.org/officeDocument/2006/relationships/hyperlink" Target="https://metall-mater-eng.com/index.php/home/article/view/1310" TargetMode="External"/><Relationship Id="rId5" Type="http://schemas.openxmlformats.org/officeDocument/2006/relationships/hyperlink" Target="https://www.nature.com/articles/s41597-025-05770-7" TargetMode="External"/><Relationship Id="rId4" Type="http://schemas.openxmlformats.org/officeDocument/2006/relationships/hyperlink" Target="https://link.springer.com/article/10.1007/s10666-024-09976-8"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404911"/>
            <a:ext cx="9144000" cy="2387600"/>
          </a:xfrm>
        </p:spPr>
        <p:txBody>
          <a:bodyPr>
            <a:normAutofit fontScale="90000"/>
          </a:bodyPr>
          <a:lstStyle/>
          <a:p>
            <a:r>
              <a:rPr lang="en-IN" b="1" dirty="0"/>
              <a:t>Analytics for Operations and Logistics Management</a:t>
            </a:r>
            <a:r>
              <a:rPr lang="en-IN" dirty="0"/>
              <a:t/>
            </a:r>
            <a:br>
              <a:rPr lang="en-IN" dirty="0"/>
            </a:br>
            <a:endParaRPr lang="en-IN" dirty="0"/>
          </a:p>
        </p:txBody>
      </p:sp>
      <p:sp>
        <p:nvSpPr>
          <p:cNvPr id="3" name="Subtitle 2"/>
          <p:cNvSpPr>
            <a:spLocks noGrp="1"/>
          </p:cNvSpPr>
          <p:nvPr>
            <p:ph type="subTitle" idx="1"/>
          </p:nvPr>
        </p:nvSpPr>
        <p:spPr>
          <a:xfrm>
            <a:off x="1523999" y="5627786"/>
            <a:ext cx="9144000" cy="1655762"/>
          </a:xfrm>
        </p:spPr>
        <p:txBody>
          <a:bodyPr/>
          <a:lstStyle/>
          <a:p>
            <a:r>
              <a:rPr lang="en-IN" dirty="0" smtClean="0"/>
              <a:t>Student name:</a:t>
            </a:r>
          </a:p>
          <a:p>
            <a:r>
              <a:rPr lang="en-IN" dirty="0" smtClean="0"/>
              <a:t>Student id:</a:t>
            </a:r>
            <a:endParaRPr lang="en-IN" dirty="0"/>
          </a:p>
        </p:txBody>
      </p:sp>
      <p:sp>
        <p:nvSpPr>
          <p:cNvPr id="5" name="Rectangle 4"/>
          <p:cNvSpPr/>
          <p:nvPr/>
        </p:nvSpPr>
        <p:spPr>
          <a:xfrm>
            <a:off x="662585" y="2075379"/>
            <a:ext cx="10591568" cy="461665"/>
          </a:xfrm>
          <a:prstGeom prst="rect">
            <a:avLst/>
          </a:prstGeom>
        </p:spPr>
        <p:txBody>
          <a:bodyPr wrap="square">
            <a:spAutoFit/>
          </a:bodyPr>
          <a:lstStyle/>
          <a:p>
            <a:pPr algn="ctr"/>
            <a:r>
              <a:rPr lang="en-US" sz="2400" b="1" dirty="0" smtClean="0"/>
              <a:t>Eco </a:t>
            </a:r>
            <a:r>
              <a:rPr lang="en-US" sz="2400" b="1" dirty="0"/>
              <a:t>Drive </a:t>
            </a:r>
            <a:r>
              <a:rPr lang="en-US" sz="2400" b="1" dirty="0" smtClean="0"/>
              <a:t>Motors: Performance &amp; Sustainability Analysis (2022–2025)</a:t>
            </a:r>
            <a:endParaRPr lang="en-IN" sz="2400" b="1" dirty="0"/>
          </a:p>
        </p:txBody>
      </p:sp>
      <p:pic>
        <p:nvPicPr>
          <p:cNvPr id="2056" name="Picture 8" descr="Home - Eco Drive Motor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58721" y="2737512"/>
            <a:ext cx="5274555" cy="23725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88052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Introduction: Eco Drive Motors Overview </a:t>
            </a:r>
            <a:endParaRPr lang="en-IN" dirty="0"/>
          </a:p>
        </p:txBody>
      </p:sp>
      <p:sp>
        <p:nvSpPr>
          <p:cNvPr id="3" name="Content Placeholder 2"/>
          <p:cNvSpPr>
            <a:spLocks noGrp="1"/>
          </p:cNvSpPr>
          <p:nvPr>
            <p:ph idx="1"/>
          </p:nvPr>
        </p:nvSpPr>
        <p:spPr/>
        <p:txBody>
          <a:bodyPr/>
          <a:lstStyle/>
          <a:p>
            <a:pPr lvl="0"/>
            <a:r>
              <a:rPr lang="en-IN" dirty="0"/>
              <a:t>Eco Drive Motors brings its business in a competitive business environment in the automotive industry that gives the consumer options of Petrol, Diesel, Electric and Hybrid cars.</a:t>
            </a:r>
          </a:p>
          <a:p>
            <a:pPr lvl="0"/>
            <a:r>
              <a:rPr lang="en-IN" dirty="0"/>
              <a:t>The dataset that we track is on sales, revenue, customers, geography, and emissions in 2022 to 2025.</a:t>
            </a:r>
          </a:p>
          <a:p>
            <a:pPr lvl="0"/>
            <a:r>
              <a:rPr lang="en-IN" dirty="0"/>
              <a:t>Power BI dashboard represents trends in performance and sustainability.</a:t>
            </a:r>
          </a:p>
          <a:p>
            <a:pPr lvl="0"/>
            <a:r>
              <a:rPr lang="en-IN" dirty="0"/>
              <a:t>The analysis assists the leaders to make strategic choices that expand the business and preserve the environment.</a:t>
            </a:r>
          </a:p>
          <a:p>
            <a:endParaRPr lang="en-IN" dirty="0"/>
          </a:p>
        </p:txBody>
      </p:sp>
      <p:sp>
        <p:nvSpPr>
          <p:cNvPr id="4" name="Rectangle 3"/>
          <p:cNvSpPr/>
          <p:nvPr/>
        </p:nvSpPr>
        <p:spPr>
          <a:xfrm>
            <a:off x="393895" y="1350498"/>
            <a:ext cx="11085342" cy="45719"/>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p:cNvSpPr/>
          <p:nvPr/>
        </p:nvSpPr>
        <p:spPr>
          <a:xfrm flipH="1">
            <a:off x="703385" y="365125"/>
            <a:ext cx="45719" cy="6176352"/>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4365972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KPI Framework &amp; Dashboard Structure </a:t>
            </a:r>
            <a:br>
              <a:rPr lang="en-IN" b="1" dirty="0"/>
            </a:br>
            <a:endParaRPr lang="en-IN" dirty="0"/>
          </a:p>
        </p:txBody>
      </p:sp>
      <p:sp>
        <p:nvSpPr>
          <p:cNvPr id="3" name="Content Placeholder 2"/>
          <p:cNvSpPr>
            <a:spLocks noGrp="1"/>
          </p:cNvSpPr>
          <p:nvPr>
            <p:ph idx="1"/>
          </p:nvPr>
        </p:nvSpPr>
        <p:spPr>
          <a:xfrm>
            <a:off x="838200" y="1825625"/>
            <a:ext cx="10515600" cy="1522486"/>
          </a:xfrm>
        </p:spPr>
        <p:txBody>
          <a:bodyPr>
            <a:normAutofit fontScale="70000" lnSpcReduction="20000"/>
          </a:bodyPr>
          <a:lstStyle/>
          <a:p>
            <a:pPr lvl="0"/>
            <a:r>
              <a:rPr lang="en-IN" dirty="0"/>
              <a:t>The four KPIs </a:t>
            </a:r>
            <a:r>
              <a:rPr lang="en-IN" dirty="0" smtClean="0"/>
              <a:t>are </a:t>
            </a:r>
            <a:r>
              <a:rPr lang="en-IN" dirty="0"/>
              <a:t>selected are more balanced between financial performance and sustainability.</a:t>
            </a:r>
          </a:p>
          <a:p>
            <a:pPr lvl="0"/>
            <a:r>
              <a:rPr lang="en-IN" dirty="0"/>
              <a:t>They are sales mix, regional revenue, customer behavior and reduction of carbon footprints.</a:t>
            </a:r>
          </a:p>
          <a:p>
            <a:pPr lvl="0"/>
            <a:r>
              <a:rPr lang="en-IN" dirty="0"/>
              <a:t>Two KPIs appear in each dashboard canvas and therefore the data is easily interpreted.</a:t>
            </a:r>
          </a:p>
          <a:p>
            <a:pPr lvl="0"/>
            <a:r>
              <a:rPr lang="en-IN" dirty="0"/>
              <a:t>Interactive slicers enable users to do year, model or region drilling.</a:t>
            </a:r>
          </a:p>
          <a:p>
            <a:endParaRPr lang="en-IN" dirty="0"/>
          </a:p>
        </p:txBody>
      </p:sp>
      <p:pic>
        <p:nvPicPr>
          <p:cNvPr id="4" name="Picture 3"/>
          <p:cNvPicPr>
            <a:picLocks noChangeAspect="1"/>
          </p:cNvPicPr>
          <p:nvPr/>
        </p:nvPicPr>
        <p:blipFill>
          <a:blip r:embed="rId3"/>
          <a:stretch>
            <a:fillRect/>
          </a:stretch>
        </p:blipFill>
        <p:spPr>
          <a:xfrm>
            <a:off x="2730693" y="3173463"/>
            <a:ext cx="6730614" cy="3066457"/>
          </a:xfrm>
          <a:prstGeom prst="rect">
            <a:avLst/>
          </a:prstGeom>
        </p:spPr>
      </p:pic>
      <p:sp>
        <p:nvSpPr>
          <p:cNvPr id="5" name="Rectangle 4"/>
          <p:cNvSpPr/>
          <p:nvPr/>
        </p:nvSpPr>
        <p:spPr>
          <a:xfrm>
            <a:off x="393895" y="1350498"/>
            <a:ext cx="11085342" cy="45719"/>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p:cNvSpPr/>
          <p:nvPr/>
        </p:nvSpPr>
        <p:spPr>
          <a:xfrm flipH="1">
            <a:off x="703385" y="365125"/>
            <a:ext cx="45719" cy="6176352"/>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4845338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KPI 1: Sales Mix by Vehicle Type (Overview) </a:t>
            </a:r>
          </a:p>
        </p:txBody>
      </p:sp>
      <p:sp>
        <p:nvSpPr>
          <p:cNvPr id="3" name="Content Placeholder 2"/>
          <p:cNvSpPr>
            <a:spLocks noGrp="1"/>
          </p:cNvSpPr>
          <p:nvPr>
            <p:ph idx="1"/>
          </p:nvPr>
        </p:nvSpPr>
        <p:spPr>
          <a:xfrm>
            <a:off x="838200" y="1762768"/>
            <a:ext cx="2585458" cy="3416300"/>
          </a:xfrm>
        </p:spPr>
        <p:txBody>
          <a:bodyPr>
            <a:noAutofit/>
          </a:bodyPr>
          <a:lstStyle/>
          <a:p>
            <a:pPr lvl="0"/>
            <a:r>
              <a:rPr lang="en-IN" sz="1800" dirty="0"/>
              <a:t>Each Petrol, Diesel and Electric model has sales revenue of approximately 100 million PS.</a:t>
            </a:r>
          </a:p>
          <a:p>
            <a:pPr lvl="0"/>
            <a:r>
              <a:rPr lang="en-IN" sz="1800" dirty="0"/>
              <a:t>The portfolio is diversified and has a balanced presence of no type of vehicle predominance.</a:t>
            </a:r>
          </a:p>
          <a:p>
            <a:pPr lvl="0"/>
            <a:r>
              <a:rPr lang="en-IN" sz="1800" dirty="0"/>
              <a:t>The petrol models are slightly higher in price per unit as compared to others.</a:t>
            </a:r>
          </a:p>
          <a:p>
            <a:pPr lvl="0"/>
            <a:r>
              <a:rPr lang="en-IN" sz="1800" dirty="0"/>
              <a:t>Sales of electric are increasing at high speed despite infrastructure barriers.</a:t>
            </a:r>
          </a:p>
          <a:p>
            <a:endParaRPr lang="en-IN" sz="1800" dirty="0"/>
          </a:p>
        </p:txBody>
      </p:sp>
      <p:pic>
        <p:nvPicPr>
          <p:cNvPr id="4" name="Picture 3"/>
          <p:cNvPicPr>
            <a:picLocks noChangeAspect="1"/>
          </p:cNvPicPr>
          <p:nvPr/>
        </p:nvPicPr>
        <p:blipFill>
          <a:blip r:embed="rId3"/>
          <a:stretch>
            <a:fillRect/>
          </a:stretch>
        </p:blipFill>
        <p:spPr>
          <a:xfrm>
            <a:off x="3423658" y="2284163"/>
            <a:ext cx="5307742" cy="2966985"/>
          </a:xfrm>
          <a:prstGeom prst="rect">
            <a:avLst/>
          </a:prstGeom>
        </p:spPr>
      </p:pic>
      <p:sp>
        <p:nvSpPr>
          <p:cNvPr id="7" name="Content Placeholder 2"/>
          <p:cNvSpPr txBox="1">
            <a:spLocks/>
          </p:cNvSpPr>
          <p:nvPr/>
        </p:nvSpPr>
        <p:spPr>
          <a:xfrm>
            <a:off x="8988316" y="2154098"/>
            <a:ext cx="2575327" cy="3416300"/>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r>
              <a:rPr lang="en-US" dirty="0" smtClean="0"/>
              <a:t>Balanced </a:t>
            </a:r>
            <a:r>
              <a:rPr lang="en-US" dirty="0"/>
              <a:t>sales across Petrol, Diesel, and Electric (~£100M each)</a:t>
            </a:r>
          </a:p>
          <a:p>
            <a:r>
              <a:rPr lang="en-US" dirty="0" smtClean="0"/>
              <a:t>Petrol </a:t>
            </a:r>
            <a:r>
              <a:rPr lang="en-US" dirty="0"/>
              <a:t>slightly higher unit price (34.36%)</a:t>
            </a:r>
          </a:p>
          <a:p>
            <a:r>
              <a:rPr lang="en-US" dirty="0" smtClean="0"/>
              <a:t>Model </a:t>
            </a:r>
            <a:r>
              <a:rPr lang="en-US" dirty="0"/>
              <a:t>A leads units sold (21.6%)</a:t>
            </a:r>
          </a:p>
          <a:p>
            <a:r>
              <a:rPr lang="en-US" dirty="0" smtClean="0"/>
              <a:t>Targets </a:t>
            </a:r>
            <a:r>
              <a:rPr lang="en-US" dirty="0"/>
              <a:t>aligned with demand (Model A &amp; C highest)</a:t>
            </a:r>
          </a:p>
          <a:p>
            <a:endParaRPr lang="en-US" dirty="0"/>
          </a:p>
        </p:txBody>
      </p:sp>
      <p:sp>
        <p:nvSpPr>
          <p:cNvPr id="9" name="Rectangle 8"/>
          <p:cNvSpPr/>
          <p:nvPr/>
        </p:nvSpPr>
        <p:spPr>
          <a:xfrm>
            <a:off x="393895" y="1350498"/>
            <a:ext cx="11085342" cy="45719"/>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p:cNvSpPr/>
          <p:nvPr/>
        </p:nvSpPr>
        <p:spPr>
          <a:xfrm flipH="1">
            <a:off x="703385" y="365125"/>
            <a:ext cx="45719" cy="6176352"/>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2588706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KPI 1: Sales Mix Trends &amp; Insights </a:t>
            </a:r>
          </a:p>
        </p:txBody>
      </p:sp>
      <p:sp>
        <p:nvSpPr>
          <p:cNvPr id="3" name="Content Placeholder 2"/>
          <p:cNvSpPr>
            <a:spLocks noGrp="1"/>
          </p:cNvSpPr>
          <p:nvPr>
            <p:ph idx="1"/>
          </p:nvPr>
        </p:nvSpPr>
        <p:spPr>
          <a:xfrm>
            <a:off x="1169021" y="1886047"/>
            <a:ext cx="10071063" cy="3416300"/>
          </a:xfrm>
        </p:spPr>
        <p:txBody>
          <a:bodyPr>
            <a:normAutofit fontScale="77500" lnSpcReduction="20000"/>
          </a:bodyPr>
          <a:lstStyle/>
          <a:p>
            <a:pPr lvl="0"/>
            <a:r>
              <a:rPr lang="en-IN" dirty="0"/>
              <a:t>The type of vehicles has a close correlation between unit sales and revenue share.</a:t>
            </a:r>
          </a:p>
          <a:p>
            <a:pPr lvl="0"/>
            <a:r>
              <a:rPr lang="en-IN" dirty="0"/>
              <a:t>Market transition challenges do not nullify the similar value that electric vehicles bring forth in the market.</a:t>
            </a:r>
          </a:p>
          <a:p>
            <a:pPr lvl="0"/>
            <a:r>
              <a:rPr lang="en-IN" dirty="0"/>
              <a:t>Sales goals are similar to the past distribution and a good indicator of successful forecasting (Wagner et al. 2025).</a:t>
            </a:r>
          </a:p>
          <a:p>
            <a:pPr lvl="0"/>
            <a:r>
              <a:rPr lang="en-IN" dirty="0"/>
              <a:t>Both stable trends between 2022 and 2025 depict stable consumer demand trends</a:t>
            </a:r>
            <a:r>
              <a:rPr lang="en-IN" dirty="0" smtClean="0"/>
              <a:t>.</a:t>
            </a:r>
          </a:p>
          <a:p>
            <a:pPr lvl="0"/>
            <a:r>
              <a:rPr lang="en-US" dirty="0" smtClean="0"/>
              <a:t>Sales </a:t>
            </a:r>
            <a:r>
              <a:rPr lang="en-US" dirty="0"/>
              <a:t>team performance consistent across reps</a:t>
            </a:r>
          </a:p>
          <a:p>
            <a:pPr lvl="0"/>
            <a:r>
              <a:rPr lang="en-US" dirty="0" smtClean="0"/>
              <a:t>John </a:t>
            </a:r>
            <a:r>
              <a:rPr lang="en-US" dirty="0"/>
              <a:t>Doe leads with 21.1% units sold</a:t>
            </a:r>
          </a:p>
          <a:p>
            <a:pPr lvl="0"/>
            <a:r>
              <a:rPr lang="en-US" dirty="0" smtClean="0"/>
              <a:t>Global </a:t>
            </a:r>
            <a:r>
              <a:rPr lang="en-US" dirty="0"/>
              <a:t>reach indicated by map visualization</a:t>
            </a:r>
          </a:p>
          <a:p>
            <a:pPr lvl="0"/>
            <a:r>
              <a:rPr lang="en-US" dirty="0" smtClean="0"/>
              <a:t>Longitudinal </a:t>
            </a:r>
            <a:r>
              <a:rPr lang="en-US" dirty="0"/>
              <a:t>study across 2022–2025 highlights growth trends</a:t>
            </a:r>
          </a:p>
          <a:p>
            <a:pPr lvl="0"/>
            <a:endParaRPr lang="en-IN" dirty="0" smtClean="0"/>
          </a:p>
          <a:p>
            <a:endParaRPr lang="en-IN" dirty="0"/>
          </a:p>
        </p:txBody>
      </p:sp>
      <p:sp>
        <p:nvSpPr>
          <p:cNvPr id="6" name="Rectangle 5"/>
          <p:cNvSpPr/>
          <p:nvPr/>
        </p:nvSpPr>
        <p:spPr>
          <a:xfrm>
            <a:off x="393895" y="1350498"/>
            <a:ext cx="11085342" cy="45719"/>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p:cNvSpPr/>
          <p:nvPr/>
        </p:nvSpPr>
        <p:spPr>
          <a:xfrm flipH="1">
            <a:off x="703385" y="365125"/>
            <a:ext cx="45719" cy="6176352"/>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6119567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4424" y="877280"/>
            <a:ext cx="10324283" cy="706964"/>
          </a:xfrm>
        </p:spPr>
        <p:txBody>
          <a:bodyPr>
            <a:normAutofit fontScale="90000"/>
          </a:bodyPr>
          <a:lstStyle/>
          <a:p>
            <a:r>
              <a:rPr lang="en-IN" b="1" dirty="0"/>
              <a:t>KPI 2: Revenue Contribution by Region (Overview) </a:t>
            </a:r>
            <a:br>
              <a:rPr lang="en-IN" b="1" dirty="0"/>
            </a:br>
            <a:endParaRPr lang="en-IN" dirty="0"/>
          </a:p>
        </p:txBody>
      </p:sp>
      <p:sp>
        <p:nvSpPr>
          <p:cNvPr id="3" name="Content Placeholder 2"/>
          <p:cNvSpPr>
            <a:spLocks noGrp="1"/>
          </p:cNvSpPr>
          <p:nvPr>
            <p:ph idx="1"/>
          </p:nvPr>
        </p:nvSpPr>
        <p:spPr>
          <a:xfrm>
            <a:off x="8328075" y="1943893"/>
            <a:ext cx="3263703" cy="3416300"/>
          </a:xfrm>
        </p:spPr>
        <p:txBody>
          <a:bodyPr>
            <a:noAutofit/>
          </a:bodyPr>
          <a:lstStyle/>
          <a:p>
            <a:pPr lvl="0"/>
            <a:r>
              <a:rPr lang="en-IN" sz="1800" dirty="0"/>
              <a:t>In Europe and along the coast of North America the highest revenue concentration can be found.</a:t>
            </a:r>
          </a:p>
          <a:p>
            <a:pPr lvl="0"/>
            <a:r>
              <a:rPr lang="en-IN" sz="1800" dirty="0"/>
              <a:t>The revenue contribution of emerging markets is less meaning that there is a potential to be exploited.</a:t>
            </a:r>
          </a:p>
          <a:p>
            <a:pPr lvl="0"/>
            <a:r>
              <a:rPr lang="en-IN" sz="1800" dirty="0"/>
              <a:t>The difference in regional performance identifies the gap in infrastructure and market maturity.</a:t>
            </a:r>
          </a:p>
          <a:p>
            <a:pPr lvl="0"/>
            <a:r>
              <a:rPr lang="en-IN" sz="1800" dirty="0"/>
              <a:t>Geographic slicers bring a comparison of the performance during years and regional level.</a:t>
            </a:r>
          </a:p>
          <a:p>
            <a:endParaRPr lang="en-IN" sz="1800" dirty="0"/>
          </a:p>
        </p:txBody>
      </p:sp>
      <p:pic>
        <p:nvPicPr>
          <p:cNvPr id="4" name="Picture 3"/>
          <p:cNvPicPr>
            <a:picLocks noChangeAspect="1"/>
          </p:cNvPicPr>
          <p:nvPr/>
        </p:nvPicPr>
        <p:blipFill>
          <a:blip r:embed="rId3"/>
          <a:stretch>
            <a:fillRect/>
          </a:stretch>
        </p:blipFill>
        <p:spPr>
          <a:xfrm>
            <a:off x="3203921" y="2727765"/>
            <a:ext cx="5124154" cy="2869991"/>
          </a:xfrm>
          <a:prstGeom prst="rect">
            <a:avLst/>
          </a:prstGeom>
        </p:spPr>
      </p:pic>
      <p:sp>
        <p:nvSpPr>
          <p:cNvPr id="5" name="Content Placeholder 2"/>
          <p:cNvSpPr txBox="1">
            <a:spLocks/>
          </p:cNvSpPr>
          <p:nvPr/>
        </p:nvSpPr>
        <p:spPr>
          <a:xfrm>
            <a:off x="774424" y="2180089"/>
            <a:ext cx="2429496" cy="419257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lvl="0"/>
            <a:r>
              <a:rPr lang="en-IN" dirty="0"/>
              <a:t>Revenue balanced across models A–E</a:t>
            </a:r>
          </a:p>
          <a:p>
            <a:pPr lvl="0"/>
            <a:r>
              <a:rPr lang="en-IN" dirty="0"/>
              <a:t>Model A (21.58%) and Model C (20.68%) lead</a:t>
            </a:r>
          </a:p>
          <a:p>
            <a:pPr lvl="0"/>
            <a:r>
              <a:rPr lang="en-IN" dirty="0"/>
              <a:t>Competitor market share at 79.26K vs. 158.52K capacity</a:t>
            </a:r>
          </a:p>
          <a:p>
            <a:pPr lvl="0"/>
            <a:r>
              <a:rPr lang="en-IN" dirty="0"/>
              <a:t>Strong presence in Europe &amp; coastal North America</a:t>
            </a:r>
          </a:p>
        </p:txBody>
      </p:sp>
      <p:sp>
        <p:nvSpPr>
          <p:cNvPr id="6" name="Rectangle 5"/>
          <p:cNvSpPr/>
          <p:nvPr/>
        </p:nvSpPr>
        <p:spPr>
          <a:xfrm>
            <a:off x="393895" y="1350498"/>
            <a:ext cx="11085342" cy="45719"/>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p:cNvSpPr/>
          <p:nvPr/>
        </p:nvSpPr>
        <p:spPr>
          <a:xfrm flipH="1">
            <a:off x="703385" y="365125"/>
            <a:ext cx="45719" cy="6176352"/>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8910341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8766" y="674295"/>
            <a:ext cx="10515600" cy="1325563"/>
          </a:xfrm>
        </p:spPr>
        <p:txBody>
          <a:bodyPr/>
          <a:lstStyle/>
          <a:p>
            <a:r>
              <a:rPr lang="en-IN" b="1" dirty="0"/>
              <a:t>KPI 2: Regional Performance Gaps </a:t>
            </a:r>
            <a:br>
              <a:rPr lang="en-IN" b="1" dirty="0"/>
            </a:br>
            <a:endParaRPr lang="en-IN" dirty="0"/>
          </a:p>
        </p:txBody>
      </p:sp>
      <p:sp>
        <p:nvSpPr>
          <p:cNvPr id="3" name="Content Placeholder 2"/>
          <p:cNvSpPr>
            <a:spLocks noGrp="1"/>
          </p:cNvSpPr>
          <p:nvPr>
            <p:ph idx="1"/>
          </p:nvPr>
        </p:nvSpPr>
        <p:spPr>
          <a:xfrm>
            <a:off x="1033975" y="1745151"/>
            <a:ext cx="9902251" cy="3416300"/>
          </a:xfrm>
        </p:spPr>
        <p:txBody>
          <a:bodyPr>
            <a:normAutofit fontScale="77500" lnSpcReduction="20000"/>
          </a:bodyPr>
          <a:lstStyle/>
          <a:p>
            <a:pPr lvl="0"/>
            <a:r>
              <a:rPr lang="en-IN" dirty="0"/>
              <a:t>Mature regions provide consistent revenue with a low degree of volatility in terms of its growth.</a:t>
            </a:r>
          </a:p>
          <a:p>
            <a:pPr lvl="0"/>
            <a:r>
              <a:rPr lang="en-IN" dirty="0"/>
              <a:t>The barriers to underperforming regions can be the charging facilities or cost.</a:t>
            </a:r>
          </a:p>
          <a:p>
            <a:pPr lvl="0"/>
            <a:r>
              <a:rPr lang="en-IN" dirty="0"/>
              <a:t>In-depth knowledge on dealer level helps in creating targeted incentives and local approaches (</a:t>
            </a:r>
            <a:r>
              <a:rPr lang="en-IN" dirty="0" err="1"/>
              <a:t>Sangeetha</a:t>
            </a:r>
            <a:r>
              <a:rPr lang="en-IN" dirty="0"/>
              <a:t> et al. 2025).</a:t>
            </a:r>
          </a:p>
          <a:p>
            <a:pPr lvl="0"/>
            <a:r>
              <a:rPr lang="en-IN" dirty="0"/>
              <a:t>Regional diversification minimizes the risk to economic shocks</a:t>
            </a:r>
            <a:r>
              <a:rPr lang="en-IN" dirty="0" smtClean="0"/>
              <a:t>.</a:t>
            </a:r>
          </a:p>
          <a:p>
            <a:pPr lvl="0"/>
            <a:r>
              <a:rPr lang="en-IN" dirty="0"/>
              <a:t>Selling price contribution: Electric &amp; Diesel ~32–34%</a:t>
            </a:r>
          </a:p>
          <a:p>
            <a:pPr lvl="0"/>
            <a:r>
              <a:rPr lang="en-IN" dirty="0"/>
              <a:t>Sales reps consistent but below competitor volumes</a:t>
            </a:r>
          </a:p>
          <a:p>
            <a:pPr lvl="0"/>
            <a:r>
              <a:rPr lang="en-IN" dirty="0"/>
              <a:t>Gauge chart shows strong market capacity utilization</a:t>
            </a:r>
          </a:p>
          <a:p>
            <a:pPr lvl="0"/>
            <a:r>
              <a:rPr lang="en-IN" dirty="0"/>
              <a:t>Volatility in reps closing higher unit volumes</a:t>
            </a:r>
          </a:p>
          <a:p>
            <a:pPr lvl="0"/>
            <a:endParaRPr lang="en-IN" dirty="0"/>
          </a:p>
          <a:p>
            <a:endParaRPr lang="en-IN" dirty="0"/>
          </a:p>
        </p:txBody>
      </p:sp>
      <p:sp>
        <p:nvSpPr>
          <p:cNvPr id="4" name="Content Placeholder 2"/>
          <p:cNvSpPr txBox="1">
            <a:spLocks/>
          </p:cNvSpPr>
          <p:nvPr/>
        </p:nvSpPr>
        <p:spPr>
          <a:xfrm>
            <a:off x="8404791" y="2603500"/>
            <a:ext cx="3023150" cy="34163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lvl="0"/>
            <a:endParaRPr lang="en-IN" sz="1200" dirty="0"/>
          </a:p>
        </p:txBody>
      </p:sp>
      <p:sp>
        <p:nvSpPr>
          <p:cNvPr id="5" name="Rectangle 4"/>
          <p:cNvSpPr/>
          <p:nvPr/>
        </p:nvSpPr>
        <p:spPr>
          <a:xfrm>
            <a:off x="393895" y="1350498"/>
            <a:ext cx="11085342" cy="45719"/>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p:cNvSpPr/>
          <p:nvPr/>
        </p:nvSpPr>
        <p:spPr>
          <a:xfrm flipH="1">
            <a:off x="703385" y="365125"/>
            <a:ext cx="45719" cy="6176352"/>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0420410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6365" y="868837"/>
            <a:ext cx="10522634" cy="706964"/>
          </a:xfrm>
        </p:spPr>
        <p:txBody>
          <a:bodyPr>
            <a:normAutofit fontScale="90000"/>
          </a:bodyPr>
          <a:lstStyle/>
          <a:p>
            <a:r>
              <a:rPr lang="en-IN" b="1" dirty="0"/>
              <a:t>KPI 3: Customer Acquisition &amp; Retention (Overview)</a:t>
            </a:r>
            <a:br>
              <a:rPr lang="en-IN" b="1" dirty="0"/>
            </a:br>
            <a:endParaRPr lang="en-IN" dirty="0"/>
          </a:p>
        </p:txBody>
      </p:sp>
      <p:sp>
        <p:nvSpPr>
          <p:cNvPr id="3" name="Content Placeholder 2"/>
          <p:cNvSpPr>
            <a:spLocks noGrp="1"/>
          </p:cNvSpPr>
          <p:nvPr>
            <p:ph idx="1"/>
          </p:nvPr>
        </p:nvSpPr>
        <p:spPr>
          <a:xfrm>
            <a:off x="806365" y="1877878"/>
            <a:ext cx="2443272" cy="3962338"/>
          </a:xfrm>
        </p:spPr>
        <p:txBody>
          <a:bodyPr>
            <a:noAutofit/>
          </a:bodyPr>
          <a:lstStyle/>
          <a:p>
            <a:pPr lvl="0"/>
            <a:r>
              <a:rPr lang="en-IN" sz="1600" dirty="0"/>
              <a:t>The number of sales is balanced among the five major sales representatives (~20% each).</a:t>
            </a:r>
          </a:p>
          <a:p>
            <a:pPr lvl="0"/>
            <a:r>
              <a:rPr lang="en-IN" sz="1600" dirty="0"/>
              <a:t>They do not show any over dependency on one salesperson or a customer base.</a:t>
            </a:r>
          </a:p>
          <a:p>
            <a:pPr lvl="0"/>
            <a:r>
              <a:rPr lang="en-IN" sz="1600" dirty="0"/>
              <a:t>The unit-selling price is PS65M, which demonstrates a high level of customer value.</a:t>
            </a:r>
          </a:p>
          <a:p>
            <a:pPr lvl="0"/>
            <a:r>
              <a:rPr lang="en-IN" sz="1600" dirty="0"/>
              <a:t>There is no change in the acquisition of customers throughout the period of analysis.</a:t>
            </a:r>
          </a:p>
          <a:p>
            <a:endParaRPr lang="en-IN" sz="1600" dirty="0"/>
          </a:p>
        </p:txBody>
      </p:sp>
      <p:pic>
        <p:nvPicPr>
          <p:cNvPr id="4" name="Picture 3"/>
          <p:cNvPicPr>
            <a:picLocks noChangeAspect="1"/>
          </p:cNvPicPr>
          <p:nvPr/>
        </p:nvPicPr>
        <p:blipFill>
          <a:blip r:embed="rId3"/>
          <a:stretch>
            <a:fillRect/>
          </a:stretch>
        </p:blipFill>
        <p:spPr>
          <a:xfrm>
            <a:off x="3249637" y="2744651"/>
            <a:ext cx="5636090" cy="3133998"/>
          </a:xfrm>
          <a:prstGeom prst="rect">
            <a:avLst/>
          </a:prstGeom>
        </p:spPr>
      </p:pic>
      <p:sp>
        <p:nvSpPr>
          <p:cNvPr id="5" name="Content Placeholder 2"/>
          <p:cNvSpPr txBox="1">
            <a:spLocks/>
          </p:cNvSpPr>
          <p:nvPr/>
        </p:nvSpPr>
        <p:spPr>
          <a:xfrm>
            <a:off x="8885727" y="2150897"/>
            <a:ext cx="2643321" cy="3416300"/>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lvl="0"/>
            <a:r>
              <a:rPr lang="en-IN" dirty="0"/>
              <a:t>Total selling price per unit: £65M</a:t>
            </a:r>
          </a:p>
          <a:p>
            <a:pPr lvl="0"/>
            <a:r>
              <a:rPr lang="en-IN" dirty="0"/>
              <a:t>Monthly sales target: 2,000 units</a:t>
            </a:r>
          </a:p>
          <a:p>
            <a:pPr lvl="0"/>
            <a:r>
              <a:rPr lang="en-IN" dirty="0"/>
              <a:t>Model A highest revenue (£14.37M), Model D lowest (£11.82M)</a:t>
            </a:r>
          </a:p>
          <a:p>
            <a:pPr lvl="0"/>
            <a:r>
              <a:rPr lang="en-IN" dirty="0"/>
              <a:t>Customers purchase across all models, showing diversified interest</a:t>
            </a:r>
          </a:p>
        </p:txBody>
      </p:sp>
      <p:sp>
        <p:nvSpPr>
          <p:cNvPr id="6" name="Rectangle 5"/>
          <p:cNvSpPr/>
          <p:nvPr/>
        </p:nvSpPr>
        <p:spPr>
          <a:xfrm>
            <a:off x="393895" y="1350498"/>
            <a:ext cx="11085342" cy="45719"/>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p:cNvSpPr/>
          <p:nvPr/>
        </p:nvSpPr>
        <p:spPr>
          <a:xfrm flipH="1">
            <a:off x="703385" y="365125"/>
            <a:ext cx="45719" cy="6176352"/>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6623909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3040" y="674295"/>
            <a:ext cx="10515600" cy="1325563"/>
          </a:xfrm>
        </p:spPr>
        <p:txBody>
          <a:bodyPr/>
          <a:lstStyle/>
          <a:p>
            <a:r>
              <a:rPr lang="en-IN" b="1" dirty="0"/>
              <a:t>KPI 3: Customer Behavior Patterns </a:t>
            </a:r>
            <a:br>
              <a:rPr lang="en-IN" b="1" dirty="0"/>
            </a:br>
            <a:endParaRPr lang="en-IN" dirty="0"/>
          </a:p>
        </p:txBody>
      </p:sp>
      <p:sp>
        <p:nvSpPr>
          <p:cNvPr id="3" name="Content Placeholder 2"/>
          <p:cNvSpPr>
            <a:spLocks noGrp="1"/>
          </p:cNvSpPr>
          <p:nvPr>
            <p:ph idx="1"/>
          </p:nvPr>
        </p:nvSpPr>
        <p:spPr>
          <a:xfrm>
            <a:off x="1000680" y="1745151"/>
            <a:ext cx="9871771" cy="3416300"/>
          </a:xfrm>
        </p:spPr>
        <p:txBody>
          <a:bodyPr>
            <a:normAutofit fontScale="70000" lnSpcReduction="20000"/>
          </a:bodyPr>
          <a:lstStyle/>
          <a:p>
            <a:pPr lvl="0"/>
            <a:r>
              <a:rPr lang="en-IN" dirty="0"/>
              <a:t>Customers do not often buy one and the same product they buy several models of vehicles.</a:t>
            </a:r>
          </a:p>
          <a:p>
            <a:pPr lvl="0"/>
            <a:r>
              <a:rPr lang="en-IN" dirty="0"/>
              <a:t>The value customers enable high revenue generation because of the repeat purchasing.</a:t>
            </a:r>
          </a:p>
          <a:p>
            <a:pPr lvl="0"/>
            <a:r>
              <a:rPr lang="en-IN" dirty="0"/>
              <a:t>Some customers can exhibit premium preferences even though unit volumes can be lower. </a:t>
            </a:r>
          </a:p>
          <a:p>
            <a:pPr lvl="0"/>
            <a:r>
              <a:rPr lang="en-IN" dirty="0"/>
              <a:t>There is a positive correlation in sales volume and selling price</a:t>
            </a:r>
            <a:r>
              <a:rPr lang="en-IN" dirty="0" smtClean="0"/>
              <a:t>.</a:t>
            </a:r>
          </a:p>
          <a:p>
            <a:pPr lvl="0"/>
            <a:r>
              <a:rPr lang="en-IN" dirty="0"/>
              <a:t>Sales reps contribute equally (~20% each)</a:t>
            </a:r>
          </a:p>
          <a:p>
            <a:pPr lvl="0"/>
            <a:r>
              <a:rPr lang="en-IN" dirty="0"/>
              <a:t>High-value customers: Lucas Clark, James Smith, Ethan Young</a:t>
            </a:r>
          </a:p>
          <a:p>
            <a:pPr lvl="0"/>
            <a:r>
              <a:rPr lang="en-IN" dirty="0"/>
              <a:t>Correlation between units sold and total spend</a:t>
            </a:r>
          </a:p>
          <a:p>
            <a:pPr lvl="0"/>
            <a:r>
              <a:rPr lang="en-IN" dirty="0"/>
              <a:t>Premium models drive higher spend despite lower volumes</a:t>
            </a:r>
          </a:p>
          <a:p>
            <a:pPr lvl="0"/>
            <a:endParaRPr lang="en-IN" dirty="0"/>
          </a:p>
          <a:p>
            <a:endParaRPr lang="en-IN" dirty="0"/>
          </a:p>
        </p:txBody>
      </p:sp>
      <p:sp>
        <p:nvSpPr>
          <p:cNvPr id="4" name="Content Placeholder 2"/>
          <p:cNvSpPr txBox="1">
            <a:spLocks/>
          </p:cNvSpPr>
          <p:nvPr/>
        </p:nvSpPr>
        <p:spPr>
          <a:xfrm>
            <a:off x="7862899" y="2603500"/>
            <a:ext cx="3163827" cy="34163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lvl="0"/>
            <a:endParaRPr lang="en-IN" sz="1200" dirty="0"/>
          </a:p>
        </p:txBody>
      </p:sp>
      <p:sp>
        <p:nvSpPr>
          <p:cNvPr id="5" name="Rectangle 4"/>
          <p:cNvSpPr/>
          <p:nvPr/>
        </p:nvSpPr>
        <p:spPr>
          <a:xfrm>
            <a:off x="393895" y="1350498"/>
            <a:ext cx="11085342" cy="45719"/>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p:cNvSpPr/>
          <p:nvPr/>
        </p:nvSpPr>
        <p:spPr>
          <a:xfrm flipH="1">
            <a:off x="703385" y="365125"/>
            <a:ext cx="45719" cy="6176352"/>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6721793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8517" y="889263"/>
            <a:ext cx="11083938" cy="706964"/>
          </a:xfrm>
        </p:spPr>
        <p:txBody>
          <a:bodyPr>
            <a:normAutofit fontScale="90000"/>
          </a:bodyPr>
          <a:lstStyle/>
          <a:p>
            <a:r>
              <a:rPr lang="en-IN" b="1" dirty="0"/>
              <a:t>KPI 4: Carbon Footprint Reduction (Overview) </a:t>
            </a:r>
            <a:br>
              <a:rPr lang="en-IN" b="1" dirty="0"/>
            </a:br>
            <a:endParaRPr lang="en-IN" dirty="0"/>
          </a:p>
        </p:txBody>
      </p:sp>
      <p:sp>
        <p:nvSpPr>
          <p:cNvPr id="3" name="Content Placeholder 2"/>
          <p:cNvSpPr>
            <a:spLocks noGrp="1"/>
          </p:cNvSpPr>
          <p:nvPr>
            <p:ph idx="1"/>
          </p:nvPr>
        </p:nvSpPr>
        <p:spPr>
          <a:xfrm>
            <a:off x="8721969" y="1597204"/>
            <a:ext cx="2869808" cy="3416300"/>
          </a:xfrm>
        </p:spPr>
        <p:txBody>
          <a:bodyPr>
            <a:noAutofit/>
          </a:bodyPr>
          <a:lstStyle/>
          <a:p>
            <a:pPr lvl="0"/>
            <a:r>
              <a:rPr lang="en-IN" sz="2000" dirty="0"/>
              <a:t>The distribution of the Emissions is balanced between the Petrol, diesel, and Electric vehicles.</a:t>
            </a:r>
          </a:p>
          <a:p>
            <a:pPr lvl="0"/>
            <a:r>
              <a:rPr lang="en-IN" sz="2000" dirty="0"/>
              <a:t>EVs do not fail to produce emissions because of the sources of electricity generation.</a:t>
            </a:r>
          </a:p>
          <a:p>
            <a:pPr lvl="0"/>
            <a:r>
              <a:rPr lang="en-IN" sz="2000" dirty="0"/>
              <a:t>There is much less fuel efficiency with diesel cars.</a:t>
            </a:r>
          </a:p>
          <a:p>
            <a:pPr lvl="0"/>
            <a:r>
              <a:rPr lang="en-IN" sz="2000" dirty="0"/>
              <a:t>The emissions track allows monitoring the sustainability performance.</a:t>
            </a:r>
          </a:p>
          <a:p>
            <a:endParaRPr lang="en-IN" sz="2000" dirty="0"/>
          </a:p>
        </p:txBody>
      </p:sp>
      <p:pic>
        <p:nvPicPr>
          <p:cNvPr id="4" name="Picture 3"/>
          <p:cNvPicPr>
            <a:picLocks noChangeAspect="1"/>
          </p:cNvPicPr>
          <p:nvPr/>
        </p:nvPicPr>
        <p:blipFill>
          <a:blip r:embed="rId3"/>
          <a:stretch>
            <a:fillRect/>
          </a:stretch>
        </p:blipFill>
        <p:spPr>
          <a:xfrm>
            <a:off x="3258937" y="2603500"/>
            <a:ext cx="5463032" cy="3052871"/>
          </a:xfrm>
          <a:prstGeom prst="rect">
            <a:avLst/>
          </a:prstGeom>
        </p:spPr>
      </p:pic>
      <p:sp>
        <p:nvSpPr>
          <p:cNvPr id="5" name="Content Placeholder 2"/>
          <p:cNvSpPr txBox="1">
            <a:spLocks/>
          </p:cNvSpPr>
          <p:nvPr/>
        </p:nvSpPr>
        <p:spPr>
          <a:xfrm>
            <a:off x="893846" y="1596227"/>
            <a:ext cx="2220349" cy="3416300"/>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lvl="0"/>
            <a:r>
              <a:rPr lang="en-IN" dirty="0"/>
              <a:t>Emissions split: Petrol (34.37%), Diesel (32.55%), Electric (33.08%)</a:t>
            </a:r>
          </a:p>
          <a:p>
            <a:pPr lvl="0"/>
            <a:r>
              <a:rPr lang="en-IN" dirty="0"/>
              <a:t>Efficiency: Electric (48.19 km/kWh), Petrol (46.06 km/l), Diesel (10.02 km/l)</a:t>
            </a:r>
          </a:p>
          <a:p>
            <a:pPr lvl="0"/>
            <a:r>
              <a:rPr lang="en-IN" dirty="0"/>
              <a:t>Model B highest emissions (0.41M)</a:t>
            </a:r>
          </a:p>
          <a:p>
            <a:pPr lvl="0"/>
            <a:r>
              <a:rPr lang="en-IN" dirty="0"/>
              <a:t>Model C most effective in emission avoidance (20.66%)</a:t>
            </a:r>
          </a:p>
        </p:txBody>
      </p:sp>
      <p:sp>
        <p:nvSpPr>
          <p:cNvPr id="6" name="Rectangle 5"/>
          <p:cNvSpPr/>
          <p:nvPr/>
        </p:nvSpPr>
        <p:spPr>
          <a:xfrm>
            <a:off x="393895" y="1350498"/>
            <a:ext cx="11085342" cy="45719"/>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p:cNvSpPr/>
          <p:nvPr/>
        </p:nvSpPr>
        <p:spPr>
          <a:xfrm flipH="1">
            <a:off x="703385" y="365125"/>
            <a:ext cx="45719" cy="6176352"/>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5519115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KPI 4: Emissions Trends &amp; Performance </a:t>
            </a:r>
          </a:p>
        </p:txBody>
      </p:sp>
      <p:sp>
        <p:nvSpPr>
          <p:cNvPr id="3" name="Content Placeholder 2"/>
          <p:cNvSpPr>
            <a:spLocks noGrp="1"/>
          </p:cNvSpPr>
          <p:nvPr>
            <p:ph idx="1"/>
          </p:nvPr>
        </p:nvSpPr>
        <p:spPr>
          <a:xfrm>
            <a:off x="1058594" y="1690688"/>
            <a:ext cx="10195560" cy="3416300"/>
          </a:xfrm>
        </p:spPr>
        <p:txBody>
          <a:bodyPr>
            <a:normAutofit fontScale="85000" lnSpcReduction="10000"/>
          </a:bodyPr>
          <a:lstStyle/>
          <a:p>
            <a:pPr lvl="0"/>
            <a:r>
              <a:rPr lang="en-IN" dirty="0"/>
              <a:t>The maximum level of carbon emissions is of around 145.94/km in 2023.</a:t>
            </a:r>
          </a:p>
          <a:p>
            <a:pPr lvl="0"/>
            <a:r>
              <a:rPr lang="en-IN" dirty="0"/>
              <a:t>The highest baseline emissions is produced by model B.</a:t>
            </a:r>
          </a:p>
          <a:p>
            <a:pPr lvl="0"/>
            <a:r>
              <a:rPr lang="en-IN" dirty="0"/>
              <a:t>The model C brings the highest level of emissions avoidance good.</a:t>
            </a:r>
          </a:p>
          <a:p>
            <a:pPr lvl="0"/>
            <a:r>
              <a:rPr lang="en-IN" dirty="0"/>
              <a:t>The total progress in carbon reduction continues to be negative</a:t>
            </a:r>
            <a:r>
              <a:rPr lang="en-IN" dirty="0" smtClean="0"/>
              <a:t>.</a:t>
            </a:r>
          </a:p>
          <a:p>
            <a:pPr lvl="0"/>
            <a:r>
              <a:rPr lang="en-IN" dirty="0"/>
              <a:t>Emissions split: Petrol (34.37%), Diesel (32.55%), Electric (33.08%)</a:t>
            </a:r>
          </a:p>
          <a:p>
            <a:pPr lvl="0"/>
            <a:r>
              <a:rPr lang="en-IN" dirty="0"/>
              <a:t>Efficiency: Electric (48.19 km/kWh), Petrol (46.06 km/l), Diesel (10.02 km/l)</a:t>
            </a:r>
          </a:p>
          <a:p>
            <a:pPr lvl="0"/>
            <a:r>
              <a:rPr lang="en-IN" dirty="0"/>
              <a:t>Model B highest emissions (0.41M)</a:t>
            </a:r>
          </a:p>
          <a:p>
            <a:pPr lvl="0"/>
            <a:r>
              <a:rPr lang="en-IN" dirty="0"/>
              <a:t>Model C most effective in emission avoidance (20.66%)</a:t>
            </a:r>
          </a:p>
          <a:p>
            <a:pPr lvl="0"/>
            <a:endParaRPr lang="en-IN" dirty="0"/>
          </a:p>
          <a:p>
            <a:endParaRPr lang="en-IN" dirty="0"/>
          </a:p>
        </p:txBody>
      </p:sp>
      <p:sp>
        <p:nvSpPr>
          <p:cNvPr id="4" name="Rectangle 3"/>
          <p:cNvSpPr/>
          <p:nvPr/>
        </p:nvSpPr>
        <p:spPr>
          <a:xfrm>
            <a:off x="393895" y="1350498"/>
            <a:ext cx="11085342" cy="45719"/>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p:cNvSpPr/>
          <p:nvPr/>
        </p:nvSpPr>
        <p:spPr>
          <a:xfrm flipH="1">
            <a:off x="703385" y="365125"/>
            <a:ext cx="45719" cy="6176352"/>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0768115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2268" y="533938"/>
            <a:ext cx="10515600" cy="1325563"/>
          </a:xfrm>
        </p:spPr>
        <p:txBody>
          <a:bodyPr/>
          <a:lstStyle/>
          <a:p>
            <a:r>
              <a:rPr lang="en-IN" b="1" dirty="0"/>
              <a:t>KPI Rationale: Sales &amp; Revenue KPIs</a:t>
            </a:r>
            <a:br>
              <a:rPr lang="en-IN" b="1" dirty="0"/>
            </a:br>
            <a:endParaRPr lang="en-IN" dirty="0"/>
          </a:p>
        </p:txBody>
      </p:sp>
      <p:sp>
        <p:nvSpPr>
          <p:cNvPr id="3" name="Content Placeholder 2"/>
          <p:cNvSpPr>
            <a:spLocks noGrp="1"/>
          </p:cNvSpPr>
          <p:nvPr>
            <p:ph idx="1"/>
          </p:nvPr>
        </p:nvSpPr>
        <p:spPr>
          <a:xfrm>
            <a:off x="1058594" y="1859501"/>
            <a:ext cx="4401783" cy="3416300"/>
          </a:xfrm>
        </p:spPr>
        <p:txBody>
          <a:bodyPr>
            <a:normAutofit fontScale="77500" lnSpcReduction="20000"/>
          </a:bodyPr>
          <a:lstStyle/>
          <a:p>
            <a:pPr lvl="0"/>
            <a:r>
              <a:rPr lang="en-IN" dirty="0"/>
              <a:t>Sales mix tells us the consumer preference and readiness on EVs in the market.</a:t>
            </a:r>
          </a:p>
          <a:p>
            <a:pPr lvl="0"/>
            <a:r>
              <a:rPr lang="en-IN" dirty="0"/>
              <a:t>The contribution of revenue determines the locations of strong and poor performance.</a:t>
            </a:r>
          </a:p>
          <a:p>
            <a:pPr lvl="0"/>
            <a:r>
              <a:rPr lang="en-IN" dirty="0"/>
              <a:t>These KPIs directly have an effect on profitability and investments planning (Mai et al. 2025).</a:t>
            </a:r>
          </a:p>
          <a:p>
            <a:pPr lvl="0"/>
            <a:r>
              <a:rPr lang="en-IN" dirty="0"/>
              <a:t>The two KPIs facilitate both short and long term strategic choices.</a:t>
            </a:r>
          </a:p>
          <a:p>
            <a:endParaRPr lang="en-IN" dirty="0"/>
          </a:p>
        </p:txBody>
      </p:sp>
      <p:sp>
        <p:nvSpPr>
          <p:cNvPr id="4" name="Rectangle 3"/>
          <p:cNvSpPr/>
          <p:nvPr/>
        </p:nvSpPr>
        <p:spPr>
          <a:xfrm>
            <a:off x="393895" y="1350498"/>
            <a:ext cx="11085342" cy="45719"/>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p:cNvSpPr/>
          <p:nvPr/>
        </p:nvSpPr>
        <p:spPr>
          <a:xfrm flipH="1">
            <a:off x="703385" y="365125"/>
            <a:ext cx="45719" cy="6176352"/>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5"/>
          <p:cNvPicPr>
            <a:picLocks noChangeAspect="1"/>
          </p:cNvPicPr>
          <p:nvPr/>
        </p:nvPicPr>
        <p:blipFill>
          <a:blip r:embed="rId3"/>
          <a:stretch>
            <a:fillRect/>
          </a:stretch>
        </p:blipFill>
        <p:spPr>
          <a:xfrm>
            <a:off x="5666703" y="1592512"/>
            <a:ext cx="5367975" cy="3950279"/>
          </a:xfrm>
          <a:prstGeom prst="rect">
            <a:avLst/>
          </a:prstGeom>
        </p:spPr>
      </p:pic>
    </p:spTree>
    <p:extLst>
      <p:ext uri="{BB962C8B-B14F-4D97-AF65-F5344CB8AC3E}">
        <p14:creationId xmlns:p14="http://schemas.microsoft.com/office/powerpoint/2010/main" val="42406572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KPI Rationale: Customer &amp; Sustainability KPIs </a:t>
            </a:r>
          </a:p>
        </p:txBody>
      </p:sp>
      <p:sp>
        <p:nvSpPr>
          <p:cNvPr id="3" name="Content Placeholder 2"/>
          <p:cNvSpPr>
            <a:spLocks noGrp="1"/>
          </p:cNvSpPr>
          <p:nvPr>
            <p:ph idx="1"/>
          </p:nvPr>
        </p:nvSpPr>
        <p:spPr>
          <a:xfrm>
            <a:off x="5866228" y="1825625"/>
            <a:ext cx="5487572" cy="4351338"/>
          </a:xfrm>
        </p:spPr>
        <p:txBody>
          <a:bodyPr/>
          <a:lstStyle/>
          <a:p>
            <a:pPr lvl="0"/>
            <a:r>
              <a:rPr lang="en-IN" dirty="0"/>
              <a:t>Customer KPIs are stability, loyalty, and potential growth.</a:t>
            </a:r>
          </a:p>
          <a:p>
            <a:pPr lvl="0"/>
            <a:r>
              <a:rPr lang="en-IN" dirty="0"/>
              <a:t>Retention lowers the cost of acquisition and lifespan (Luxembourg et al. 2025).</a:t>
            </a:r>
          </a:p>
          <a:p>
            <a:pPr lvl="0"/>
            <a:r>
              <a:rPr lang="en-IN" dirty="0"/>
              <a:t>Carbon KPIs ensure that business strategy and ESG and 2030 objectives match.</a:t>
            </a:r>
          </a:p>
          <a:p>
            <a:pPr lvl="0"/>
            <a:r>
              <a:rPr lang="en-IN" dirty="0"/>
              <a:t>Sustainability ratios help improve brand image and governance.</a:t>
            </a:r>
          </a:p>
          <a:p>
            <a:endParaRPr lang="en-IN" dirty="0"/>
          </a:p>
        </p:txBody>
      </p:sp>
      <p:sp>
        <p:nvSpPr>
          <p:cNvPr id="4" name="Rectangle 3"/>
          <p:cNvSpPr/>
          <p:nvPr/>
        </p:nvSpPr>
        <p:spPr>
          <a:xfrm>
            <a:off x="393895" y="1350498"/>
            <a:ext cx="11085342" cy="45719"/>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p:cNvSpPr/>
          <p:nvPr/>
        </p:nvSpPr>
        <p:spPr>
          <a:xfrm flipH="1">
            <a:off x="703385" y="365125"/>
            <a:ext cx="45719" cy="6176352"/>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074" name="Picture 2" descr="Customer loyalty - Trustmar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602658"/>
            <a:ext cx="3213295" cy="2293866"/>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What Is Carbon Footprint? | Jinsun Carb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8767" y="3896524"/>
            <a:ext cx="3895920" cy="25871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84561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Recommendations: Sales &amp; Market Strategy</a:t>
            </a:r>
          </a:p>
        </p:txBody>
      </p:sp>
      <p:sp>
        <p:nvSpPr>
          <p:cNvPr id="3" name="Content Placeholder 2"/>
          <p:cNvSpPr>
            <a:spLocks noGrp="1"/>
          </p:cNvSpPr>
          <p:nvPr>
            <p:ph idx="1"/>
          </p:nvPr>
        </p:nvSpPr>
        <p:spPr>
          <a:xfrm>
            <a:off x="1058594" y="1942318"/>
            <a:ext cx="4275174" cy="3416300"/>
          </a:xfrm>
        </p:spPr>
        <p:txBody>
          <a:bodyPr>
            <a:normAutofit fontScale="85000" lnSpcReduction="10000"/>
          </a:bodyPr>
          <a:lstStyle/>
          <a:p>
            <a:pPr lvl="0"/>
            <a:r>
              <a:rPr lang="en-IN" dirty="0"/>
              <a:t>Enhance use of incentives on Electric and Hybrid vehicles.</a:t>
            </a:r>
          </a:p>
          <a:p>
            <a:pPr lvl="0"/>
            <a:r>
              <a:rPr lang="en-IN" dirty="0"/>
              <a:t>Regional strategy adjustment by infrastructure preparedness.</a:t>
            </a:r>
          </a:p>
          <a:p>
            <a:pPr lvl="0"/>
            <a:r>
              <a:rPr lang="en-IN" dirty="0"/>
              <a:t>Do forecasting sales on a fine basis (International Energy Agency, 2023).</a:t>
            </a:r>
          </a:p>
          <a:p>
            <a:pPr lvl="0"/>
            <a:r>
              <a:rPr lang="en-IN" dirty="0"/>
              <a:t>Enhance poor performer dealership networks.</a:t>
            </a:r>
          </a:p>
          <a:p>
            <a:endParaRPr lang="en-IN" dirty="0"/>
          </a:p>
        </p:txBody>
      </p:sp>
      <p:graphicFrame>
        <p:nvGraphicFramePr>
          <p:cNvPr id="4" name="Diagram 3"/>
          <p:cNvGraphicFramePr/>
          <p:nvPr>
            <p:extLst>
              <p:ext uri="{D42A27DB-BD31-4B8C-83A1-F6EECF244321}">
                <p14:modId xmlns:p14="http://schemas.microsoft.com/office/powerpoint/2010/main" val="905500509"/>
              </p:ext>
            </p:extLst>
          </p:nvPr>
        </p:nvGraphicFramePr>
        <p:xfrm>
          <a:off x="5430129" y="1690688"/>
          <a:ext cx="6207737" cy="448502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4"/>
          <p:cNvSpPr/>
          <p:nvPr/>
        </p:nvSpPr>
        <p:spPr>
          <a:xfrm>
            <a:off x="393895" y="1350498"/>
            <a:ext cx="11085342" cy="45719"/>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p:cNvSpPr/>
          <p:nvPr/>
        </p:nvSpPr>
        <p:spPr>
          <a:xfrm flipH="1">
            <a:off x="703385" y="365125"/>
            <a:ext cx="45719" cy="6176352"/>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9607181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b="1" dirty="0"/>
              <a:t>Recommendations: Customer &amp; Sustainability Actions </a:t>
            </a:r>
            <a:br>
              <a:rPr lang="en-IN" sz="3600" b="1" dirty="0"/>
            </a:br>
            <a:endParaRPr lang="en-IN" sz="3600" dirty="0"/>
          </a:p>
        </p:txBody>
      </p:sp>
      <p:sp>
        <p:nvSpPr>
          <p:cNvPr id="3" name="Content Placeholder 2"/>
          <p:cNvSpPr>
            <a:spLocks noGrp="1"/>
          </p:cNvSpPr>
          <p:nvPr>
            <p:ph idx="1"/>
          </p:nvPr>
        </p:nvSpPr>
        <p:spPr>
          <a:xfrm>
            <a:off x="838200" y="1825625"/>
            <a:ext cx="6688015" cy="4351338"/>
          </a:xfrm>
        </p:spPr>
        <p:txBody>
          <a:bodyPr/>
          <a:lstStyle/>
          <a:p>
            <a:pPr lvl="0"/>
            <a:r>
              <a:rPr lang="en-IN" dirty="0"/>
              <a:t>Establish customer reward schemes on repeat buyers.</a:t>
            </a:r>
          </a:p>
          <a:p>
            <a:pPr lvl="0"/>
            <a:r>
              <a:rPr lang="en-IN" dirty="0"/>
              <a:t>Train sales force to favour sustainability advantages.</a:t>
            </a:r>
          </a:p>
          <a:p>
            <a:pPr lvl="0"/>
            <a:r>
              <a:rPr lang="en-IN" dirty="0"/>
              <a:t>Gradually eliminate low efficiency Diesel models (Gujar, 2025).</a:t>
            </a:r>
          </a:p>
          <a:p>
            <a:pPr lvl="0"/>
            <a:r>
              <a:rPr lang="en-IN" dirty="0"/>
              <a:t>Invest into EV charging partnerships in renewable energy.</a:t>
            </a:r>
          </a:p>
          <a:p>
            <a:endParaRPr lang="en-IN" dirty="0"/>
          </a:p>
        </p:txBody>
      </p:sp>
      <p:sp>
        <p:nvSpPr>
          <p:cNvPr id="4" name="Rectangle 3"/>
          <p:cNvSpPr/>
          <p:nvPr/>
        </p:nvSpPr>
        <p:spPr>
          <a:xfrm>
            <a:off x="393895" y="1350498"/>
            <a:ext cx="11085342" cy="45719"/>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p:cNvSpPr/>
          <p:nvPr/>
        </p:nvSpPr>
        <p:spPr>
          <a:xfrm flipH="1">
            <a:off x="703385" y="365125"/>
            <a:ext cx="45719" cy="6176352"/>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AutoShape 2" descr="The Sustainable Consumer | Deloitte U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p:cNvPicPr>
            <a:picLocks noChangeAspect="1"/>
          </p:cNvPicPr>
          <p:nvPr/>
        </p:nvPicPr>
        <p:blipFill>
          <a:blip r:embed="rId3"/>
          <a:stretch>
            <a:fillRect/>
          </a:stretch>
        </p:blipFill>
        <p:spPr>
          <a:xfrm>
            <a:off x="7295643" y="2124220"/>
            <a:ext cx="4058157" cy="3083785"/>
          </a:xfrm>
          <a:prstGeom prst="rect">
            <a:avLst/>
          </a:prstGeom>
        </p:spPr>
      </p:pic>
    </p:spTree>
    <p:extLst>
      <p:ext uri="{BB962C8B-B14F-4D97-AF65-F5344CB8AC3E}">
        <p14:creationId xmlns:p14="http://schemas.microsoft.com/office/powerpoint/2010/main" val="20924323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Conclusion</a:t>
            </a:r>
            <a:br>
              <a:rPr lang="en-IN" b="1" dirty="0"/>
            </a:br>
            <a:endParaRPr lang="en-IN" dirty="0"/>
          </a:p>
        </p:txBody>
      </p:sp>
      <p:sp>
        <p:nvSpPr>
          <p:cNvPr id="3" name="Content Placeholder 2"/>
          <p:cNvSpPr>
            <a:spLocks noGrp="1"/>
          </p:cNvSpPr>
          <p:nvPr>
            <p:ph idx="1"/>
          </p:nvPr>
        </p:nvSpPr>
        <p:spPr/>
        <p:txBody>
          <a:bodyPr/>
          <a:lstStyle/>
          <a:p>
            <a:pPr lvl="0"/>
            <a:r>
              <a:rPr lang="en-IN" dirty="0"/>
              <a:t>BI dashboard reports are actionable and real-time.</a:t>
            </a:r>
          </a:p>
          <a:p>
            <a:pPr lvl="0"/>
            <a:r>
              <a:rPr lang="en-IN" dirty="0"/>
              <a:t>KPIs show that it is very financially stable and has sustainability issues.</a:t>
            </a:r>
          </a:p>
          <a:p>
            <a:pPr lvl="0"/>
            <a:r>
              <a:rPr lang="en-IN" dirty="0"/>
              <a:t>Informed recommendations help in 2030 strategic objectives.</a:t>
            </a:r>
          </a:p>
          <a:p>
            <a:pPr lvl="0"/>
            <a:r>
              <a:rPr lang="en-IN" dirty="0"/>
              <a:t>The sources are dataset, scholarly literature, and industrial reports.</a:t>
            </a:r>
          </a:p>
          <a:p>
            <a:endParaRPr lang="en-IN" dirty="0"/>
          </a:p>
        </p:txBody>
      </p:sp>
      <p:sp>
        <p:nvSpPr>
          <p:cNvPr id="4" name="Rectangle 3"/>
          <p:cNvSpPr/>
          <p:nvPr/>
        </p:nvSpPr>
        <p:spPr>
          <a:xfrm>
            <a:off x="393895" y="1350498"/>
            <a:ext cx="11085342" cy="45719"/>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p:cNvSpPr/>
          <p:nvPr/>
        </p:nvSpPr>
        <p:spPr>
          <a:xfrm flipH="1">
            <a:off x="703385" y="365125"/>
            <a:ext cx="45719" cy="6176352"/>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0574702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Reference list </a:t>
            </a:r>
            <a:br>
              <a:rPr lang="en-IN" b="1" dirty="0"/>
            </a:br>
            <a:endParaRPr lang="en-IN" dirty="0"/>
          </a:p>
        </p:txBody>
      </p:sp>
      <p:sp>
        <p:nvSpPr>
          <p:cNvPr id="3" name="Content Placeholder 2"/>
          <p:cNvSpPr>
            <a:spLocks noGrp="1"/>
          </p:cNvSpPr>
          <p:nvPr>
            <p:ph idx="1"/>
          </p:nvPr>
        </p:nvSpPr>
        <p:spPr/>
        <p:txBody>
          <a:bodyPr>
            <a:normAutofit fontScale="62500" lnSpcReduction="20000"/>
          </a:bodyPr>
          <a:lstStyle/>
          <a:p>
            <a:r>
              <a:rPr lang="en-IN" dirty="0"/>
              <a:t>Gujar, P., 2025. Data Visualization: Techniques and Best Practices. In </a:t>
            </a:r>
            <a:r>
              <a:rPr lang="en-IN" i="1" dirty="0"/>
              <a:t>Data Usability in the Enterprise: How Usability Leads to Optimal Digital Experiences</a:t>
            </a:r>
            <a:r>
              <a:rPr lang="en-IN" dirty="0"/>
              <a:t> (pp. 143-178). Berkeley, CA: </a:t>
            </a:r>
            <a:r>
              <a:rPr lang="en-IN" dirty="0" err="1"/>
              <a:t>Apress</a:t>
            </a:r>
            <a:r>
              <a:rPr lang="en-IN" dirty="0"/>
              <a:t>. </a:t>
            </a:r>
            <a:r>
              <a:rPr lang="en-IN" u="sng" dirty="0">
                <a:hlinkClick r:id="rId2"/>
              </a:rPr>
              <a:t>https://link.springer.com/chapter/10.1007/979-8-8688-1183-8_6</a:t>
            </a:r>
            <a:endParaRPr lang="en-IN" dirty="0"/>
          </a:p>
          <a:p>
            <a:r>
              <a:rPr lang="en-IN" dirty="0"/>
              <a:t>International Energy Agency (IEA) (2023) Global EV Outlook 2023: Catching up with climate ambitions. Paris: IEA. </a:t>
            </a:r>
            <a:r>
              <a:rPr lang="en-IN" u="sng" dirty="0">
                <a:hlinkClick r:id="rId3"/>
              </a:rPr>
              <a:t>https://www.iea.org/reports/global-ev-outlook-2023</a:t>
            </a:r>
            <a:r>
              <a:rPr lang="en-IN" dirty="0"/>
              <a:t> </a:t>
            </a:r>
          </a:p>
          <a:p>
            <a:r>
              <a:rPr lang="en-IN" dirty="0"/>
              <a:t>Luxembourg, S.L., Salim, S.S., </a:t>
            </a:r>
            <a:r>
              <a:rPr lang="en-IN" dirty="0" err="1"/>
              <a:t>Smekens</a:t>
            </a:r>
            <a:r>
              <a:rPr lang="en-IN" dirty="0"/>
              <a:t>, K., Longa, F.D. and van der </a:t>
            </a:r>
            <a:r>
              <a:rPr lang="en-IN" dirty="0" err="1"/>
              <a:t>Zwaan</a:t>
            </a:r>
            <a:r>
              <a:rPr lang="en-IN" dirty="0"/>
              <a:t>, B., 2025. TIMES-Europe: An integrated energy system model for </a:t>
            </a:r>
            <a:r>
              <a:rPr lang="en-IN" dirty="0" err="1"/>
              <a:t>analyzing</a:t>
            </a:r>
            <a:r>
              <a:rPr lang="en-IN" dirty="0"/>
              <a:t> Europe’s energy and climate challenges. </a:t>
            </a:r>
            <a:r>
              <a:rPr lang="en-IN" i="1" dirty="0"/>
              <a:t>Environmental Modeling &amp; Assessment</a:t>
            </a:r>
            <a:r>
              <a:rPr lang="en-IN" dirty="0"/>
              <a:t>, </a:t>
            </a:r>
            <a:r>
              <a:rPr lang="en-IN" i="1" dirty="0"/>
              <a:t>30</a:t>
            </a:r>
            <a:r>
              <a:rPr lang="en-IN" dirty="0"/>
              <a:t>(1), pp.1-19. </a:t>
            </a:r>
            <a:r>
              <a:rPr lang="en-IN" u="sng" dirty="0">
                <a:hlinkClick r:id="rId4"/>
              </a:rPr>
              <a:t>https://link.springer.com/article/10.1007/s10666-024-09976-8</a:t>
            </a:r>
            <a:endParaRPr lang="en-IN" dirty="0"/>
          </a:p>
          <a:p>
            <a:r>
              <a:rPr lang="en-IN" dirty="0"/>
              <a:t>Mai, L., Liu, M., </a:t>
            </a:r>
            <a:r>
              <a:rPr lang="en-IN" dirty="0" err="1"/>
              <a:t>Hao</a:t>
            </a:r>
            <a:r>
              <a:rPr lang="en-IN" dirty="0"/>
              <a:t>, H., Sun, X., </a:t>
            </a:r>
            <a:r>
              <a:rPr lang="en-IN" dirty="0" err="1"/>
              <a:t>Meng</a:t>
            </a:r>
            <a:r>
              <a:rPr lang="en-IN" dirty="0"/>
              <a:t>, F., </a:t>
            </a:r>
            <a:r>
              <a:rPr lang="en-IN" dirty="0" err="1"/>
              <a:t>Geng</a:t>
            </a:r>
            <a:r>
              <a:rPr lang="en-IN" dirty="0"/>
              <a:t>, Y., </a:t>
            </a:r>
            <a:r>
              <a:rPr lang="en-IN" dirty="0" err="1"/>
              <a:t>Wadud</a:t>
            </a:r>
            <a:r>
              <a:rPr lang="en-IN" dirty="0"/>
              <a:t>, Z., Tate, J.E., Dong, Z., Li, H. and </a:t>
            </a:r>
            <a:r>
              <a:rPr lang="en-IN" dirty="0" err="1"/>
              <a:t>Geng</a:t>
            </a:r>
            <a:r>
              <a:rPr lang="en-IN" dirty="0"/>
              <a:t>, J., 2025. A high-resolution dataset on electric passenger vehicle characteristics in China and the European Union. </a:t>
            </a:r>
            <a:r>
              <a:rPr lang="en-IN" i="1" dirty="0"/>
              <a:t>Scientific Data</a:t>
            </a:r>
            <a:r>
              <a:rPr lang="en-IN" dirty="0"/>
              <a:t>, </a:t>
            </a:r>
            <a:r>
              <a:rPr lang="en-IN" i="1" dirty="0"/>
              <a:t>12</a:t>
            </a:r>
            <a:r>
              <a:rPr lang="en-IN" dirty="0"/>
              <a:t>(1), p.1449. </a:t>
            </a:r>
            <a:r>
              <a:rPr lang="en-IN" u="sng" dirty="0">
                <a:hlinkClick r:id="rId5"/>
              </a:rPr>
              <a:t>https://www.nature.com/articles/s41597-025-05770-7</a:t>
            </a:r>
            <a:endParaRPr lang="en-IN" dirty="0"/>
          </a:p>
          <a:p>
            <a:r>
              <a:rPr lang="en-IN" dirty="0" err="1"/>
              <a:t>Sangeetha</a:t>
            </a:r>
            <a:r>
              <a:rPr lang="en-IN" dirty="0"/>
              <a:t>, R., </a:t>
            </a:r>
            <a:r>
              <a:rPr lang="en-IN" dirty="0" err="1"/>
              <a:t>Elantamilan</a:t>
            </a:r>
            <a:r>
              <a:rPr lang="en-IN" dirty="0"/>
              <a:t>, D. and </a:t>
            </a:r>
            <a:r>
              <a:rPr lang="en-IN" dirty="0" err="1"/>
              <a:t>Indrapandi</a:t>
            </a:r>
            <a:r>
              <a:rPr lang="en-IN" dirty="0"/>
              <a:t>, A., 2025. </a:t>
            </a:r>
            <a:r>
              <a:rPr lang="en-IN" dirty="0" err="1"/>
              <a:t>Analyzing</a:t>
            </a:r>
            <a:r>
              <a:rPr lang="en-IN" dirty="0"/>
              <a:t> Data with Different Charts and Visualizations in Power BI. Metallurgical and Materials Engineering, 31(1), pp.780-785. </a:t>
            </a:r>
            <a:r>
              <a:rPr lang="en-IN" u="sng" dirty="0">
                <a:hlinkClick r:id="rId6"/>
              </a:rPr>
              <a:t>https://metall-mater-eng.com/index.php/home/article/view/1310</a:t>
            </a:r>
            <a:r>
              <a:rPr lang="en-IN" dirty="0"/>
              <a:t> </a:t>
            </a:r>
          </a:p>
          <a:p>
            <a:r>
              <a:rPr lang="en-IN" dirty="0"/>
              <a:t>Wagner, A., Walker, A.M., </a:t>
            </a:r>
            <a:r>
              <a:rPr lang="en-IN" dirty="0" err="1"/>
              <a:t>Albizzati</a:t>
            </a:r>
            <a:r>
              <a:rPr lang="en-IN" dirty="0"/>
              <a:t>, P.F., </a:t>
            </a:r>
            <a:r>
              <a:rPr lang="en-IN" dirty="0" err="1"/>
              <a:t>Milios</a:t>
            </a:r>
            <a:r>
              <a:rPr lang="en-IN" dirty="0"/>
              <a:t>, L., Besler, M., </a:t>
            </a:r>
            <a:r>
              <a:rPr lang="en-IN" dirty="0" err="1"/>
              <a:t>Pedauga</a:t>
            </a:r>
            <a:r>
              <a:rPr lang="en-IN" dirty="0"/>
              <a:t>, L., </a:t>
            </a:r>
            <a:r>
              <a:rPr lang="en-IN" dirty="0" err="1"/>
              <a:t>Rostek</a:t>
            </a:r>
            <a:r>
              <a:rPr lang="en-IN" dirty="0"/>
              <a:t>, L., Keramidas, K., </a:t>
            </a:r>
            <a:r>
              <a:rPr lang="en-IN" dirty="0" err="1"/>
              <a:t>Piñero</a:t>
            </a:r>
            <a:r>
              <a:rPr lang="en-IN" dirty="0"/>
              <a:t> Mira, P., </a:t>
            </a:r>
            <a:r>
              <a:rPr lang="en-IN" dirty="0" err="1"/>
              <a:t>Christis</a:t>
            </a:r>
            <a:r>
              <a:rPr lang="en-IN" dirty="0"/>
              <a:t>, M. and Fonteyn, P., 2025. </a:t>
            </a:r>
            <a:r>
              <a:rPr lang="en-IN" i="1" dirty="0"/>
              <a:t>Environmental and Socio-Economic Impacts of the Circular Economy Transition in the EU Steel Sector</a:t>
            </a:r>
            <a:r>
              <a:rPr lang="en-IN" dirty="0"/>
              <a:t> [online] </a:t>
            </a:r>
            <a:r>
              <a:rPr lang="en-IN" u="sng" dirty="0">
                <a:hlinkClick r:id="rId7"/>
              </a:rPr>
              <a:t>https://publica.fraunhofer.de/bitstreams/06120dcc-cb4f-42e7-9272-ce94daf04810/download</a:t>
            </a:r>
            <a:endParaRPr lang="en-IN" dirty="0"/>
          </a:p>
          <a:p>
            <a:endParaRPr lang="en-IN" dirty="0"/>
          </a:p>
        </p:txBody>
      </p:sp>
      <p:sp>
        <p:nvSpPr>
          <p:cNvPr id="4" name="Rectangle 3"/>
          <p:cNvSpPr/>
          <p:nvPr/>
        </p:nvSpPr>
        <p:spPr>
          <a:xfrm>
            <a:off x="393895" y="1350498"/>
            <a:ext cx="11085342" cy="45719"/>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p:cNvSpPr/>
          <p:nvPr/>
        </p:nvSpPr>
        <p:spPr>
          <a:xfrm flipH="1">
            <a:off x="703385" y="365125"/>
            <a:ext cx="45719" cy="6176352"/>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2482186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4471" y="2756633"/>
            <a:ext cx="10515600" cy="1325563"/>
          </a:xfrm>
        </p:spPr>
        <p:txBody>
          <a:bodyPr>
            <a:noAutofit/>
          </a:bodyPr>
          <a:lstStyle/>
          <a:p>
            <a:pPr algn="ctr"/>
            <a:r>
              <a:rPr lang="en-IN" sz="19900" b="1" dirty="0" smtClean="0"/>
              <a:t>THANK YOU</a:t>
            </a:r>
            <a:endParaRPr lang="en-IN" sz="19900" b="1" dirty="0"/>
          </a:p>
        </p:txBody>
      </p:sp>
    </p:spTree>
    <p:extLst>
      <p:ext uri="{BB962C8B-B14F-4D97-AF65-F5344CB8AC3E}">
        <p14:creationId xmlns:p14="http://schemas.microsoft.com/office/powerpoint/2010/main" val="17599460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37</TotalTime>
  <Words>2216</Words>
  <Application>Microsoft Office PowerPoint</Application>
  <PresentationFormat>Widescreen</PresentationFormat>
  <Paragraphs>153</Paragraphs>
  <Slides>18</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Light</vt:lpstr>
      <vt:lpstr>Wingdings 3</vt:lpstr>
      <vt:lpstr>Office Theme</vt:lpstr>
      <vt:lpstr>Analytics for Operations and Logistics Management </vt:lpstr>
      <vt:lpstr>Introduction: Eco Drive Motors Overview </vt:lpstr>
      <vt:lpstr>KPI Framework &amp; Dashboard Structure  </vt:lpstr>
      <vt:lpstr>KPI 1: Sales Mix by Vehicle Type (Overview) </vt:lpstr>
      <vt:lpstr>KPI 1: Sales Mix Trends &amp; Insights </vt:lpstr>
      <vt:lpstr>KPI 2: Revenue Contribution by Region (Overview)  </vt:lpstr>
      <vt:lpstr>KPI 2: Regional Performance Gaps  </vt:lpstr>
      <vt:lpstr>KPI 3: Customer Acquisition &amp; Retention (Overview) </vt:lpstr>
      <vt:lpstr>KPI 3: Customer Behavior Patterns  </vt:lpstr>
      <vt:lpstr>KPI 4: Carbon Footprint Reduction (Overview)  </vt:lpstr>
      <vt:lpstr>KPI 4: Emissions Trends &amp; Performance </vt:lpstr>
      <vt:lpstr>KPI Rationale: Sales &amp; Revenue KPIs </vt:lpstr>
      <vt:lpstr>KPI Rationale: Customer &amp; Sustainability KPIs </vt:lpstr>
      <vt:lpstr>Recommendations: Sales &amp; Market Strategy</vt:lpstr>
      <vt:lpstr>Recommendations: Customer &amp; Sustainability Actions  </vt:lpstr>
      <vt:lpstr>Conclusion </vt:lpstr>
      <vt:lpstr>Reference list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Analytics for Operations and Logistics Management </dc:title>
  <dc:creator>LENOVO</dc:creator>
  <cp:lastModifiedBy>LENOVO</cp:lastModifiedBy>
  <cp:revision>11</cp:revision>
  <dcterms:created xsi:type="dcterms:W3CDTF">2026-01-02T18:04:21Z</dcterms:created>
  <dcterms:modified xsi:type="dcterms:W3CDTF">2026-01-02T18:41:25Z</dcterms:modified>
</cp:coreProperties>
</file>